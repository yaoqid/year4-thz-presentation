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5" r:id="rId1"/>
  </p:sldMasterIdLst>
  <p:notesMasterIdLst>
    <p:notesMasterId r:id="rId12"/>
  </p:notesMasterIdLst>
  <p:sldIdLst>
    <p:sldId id="256" r:id="rId2"/>
    <p:sldId id="299" r:id="rId3"/>
    <p:sldId id="307" r:id="rId4"/>
    <p:sldId id="306" r:id="rId5"/>
    <p:sldId id="305" r:id="rId6"/>
    <p:sldId id="304" r:id="rId7"/>
    <p:sldId id="303" r:id="rId8"/>
    <p:sldId id="302" r:id="rId9"/>
    <p:sldId id="301" r:id="rId10"/>
    <p:sldId id="300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6BE00"/>
    <a:srgbClr val="0097A9"/>
    <a:srgbClr val="003D4C"/>
    <a:srgbClr val="B2E2ED"/>
    <a:srgbClr val="4E3829"/>
    <a:srgbClr val="8DB9CA"/>
    <a:srgbClr val="D6D2C4"/>
    <a:srgbClr val="00FFFF"/>
    <a:srgbClr val="00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97" autoAdjust="0"/>
    <p:restoredTop sz="89525" autoAdjust="0"/>
  </p:normalViewPr>
  <p:slideViewPr>
    <p:cSldViewPr snapToGrid="0" snapToObjects="1">
      <p:cViewPr varScale="1">
        <p:scale>
          <a:sx n="128" d="100"/>
          <a:sy n="128" d="100"/>
        </p:scale>
        <p:origin x="7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EE1CD-6EDF-5C43-ACE9-942F6C137C3E}" type="datetimeFigureOut">
              <a:rPr lang="en-US" smtClean="0"/>
              <a:t>5/31/2026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55201-7865-8744-8A9B-9F5FC03C5C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107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Open with the single thesis: this project links carrier transport to far-field THz radiation, then validates the model against a published angular pattern.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5909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Explain that the engineering task is the computational bridge from a source current distribution to a detector field.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Keep this slide at audience level: three equations, three physical meanings. Emphasise why symmetry causes the on-axis null later.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Walk through the flowchart from left to right. Accuracy choices, indexing, and performance constraints are the engineering part.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The left figure is the source acceleration; the right figure is the spatial field consequence.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The useful evidence is waveform shape, polarity and vector consistency.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Set up the validation slide: low on-axis emission, a lobe, and decay toward grazing angle are the expected signatures.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Say the model reproduces key angular features, not every experimental detail.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This slide shows judgement, limitations and a concrete next step based on results.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Finish by returning to the key message and be ready to discuss far-field assumptions, normalisation, and validation data.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455201-7865-8744-8A9B-9F5FC03C5C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851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524463"/>
            <a:ext cx="7886700" cy="994172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3D4C"/>
                </a:solidFill>
                <a:latin typeface="Helvetica" pitchFamily="2" charset="0"/>
                <a:ea typeface="Helvetica" pitchFamily="2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06039"/>
            <a:ext cx="7886700" cy="2168129"/>
          </a:xfrm>
        </p:spPr>
        <p:txBody>
          <a:bodyPr>
            <a:normAutofit/>
          </a:bodyPr>
          <a:lstStyle>
            <a:lvl1pPr marL="180975" indent="-180975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542925" indent="-180975">
              <a:defRPr sz="2400" b="0">
                <a:latin typeface="Helvetica" pitchFamily="2" charset="0"/>
              </a:defRPr>
            </a:lvl3pPr>
            <a:lvl4pPr>
              <a:defRPr>
                <a:latin typeface="Helvetica" pitchFamily="2" charset="0"/>
              </a:defRPr>
            </a:lvl4pPr>
            <a:lvl5pPr>
              <a:defRPr>
                <a:latin typeface="Helvetica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grpSp>
        <p:nvGrpSpPr>
          <p:cNvPr id="9" name="Group 8"/>
          <p:cNvGrpSpPr/>
          <p:nvPr userDrawn="1"/>
        </p:nvGrpSpPr>
        <p:grpSpPr>
          <a:xfrm>
            <a:off x="0" y="0"/>
            <a:ext cx="9144000" cy="1235075"/>
            <a:chOff x="0" y="-66259"/>
            <a:chExt cx="9144000" cy="1235075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6420182" y="514785"/>
              <a:ext cx="257986" cy="303133"/>
            </a:xfrm>
            <a:prstGeom prst="rect">
              <a:avLst/>
            </a:prstGeom>
          </p:spPr>
        </p:pic>
        <p:sp>
          <p:nvSpPr>
            <p:cNvPr id="10" name="Freeform 24"/>
            <p:cNvSpPr>
              <a:spLocks/>
            </p:cNvSpPr>
            <p:nvPr/>
          </p:nvSpPr>
          <p:spPr bwMode="auto">
            <a:xfrm>
              <a:off x="0" y="-66259"/>
              <a:ext cx="9144000" cy="1235075"/>
            </a:xfrm>
            <a:custGeom>
              <a:avLst/>
              <a:gdLst>
                <a:gd name="T0" fmla="*/ 0 w 1123"/>
                <a:gd name="T1" fmla="*/ 0 h 151"/>
                <a:gd name="T2" fmla="*/ 0 w 1123"/>
                <a:gd name="T3" fmla="*/ 151 h 151"/>
                <a:gd name="T4" fmla="*/ 844 w 1123"/>
                <a:gd name="T5" fmla="*/ 151 h 151"/>
                <a:gd name="T6" fmla="*/ 841 w 1123"/>
                <a:gd name="T7" fmla="*/ 148 h 151"/>
                <a:gd name="T8" fmla="*/ 832 w 1123"/>
                <a:gd name="T9" fmla="*/ 122 h 151"/>
                <a:gd name="T10" fmla="*/ 832 w 1123"/>
                <a:gd name="T11" fmla="*/ 72 h 151"/>
                <a:gd name="T12" fmla="*/ 859 w 1123"/>
                <a:gd name="T13" fmla="*/ 72 h 151"/>
                <a:gd name="T14" fmla="*/ 859 w 1123"/>
                <a:gd name="T15" fmla="*/ 124 h 151"/>
                <a:gd name="T16" fmla="*/ 863 w 1123"/>
                <a:gd name="T17" fmla="*/ 135 h 151"/>
                <a:gd name="T18" fmla="*/ 871 w 1123"/>
                <a:gd name="T19" fmla="*/ 138 h 151"/>
                <a:gd name="T20" fmla="*/ 880 w 1123"/>
                <a:gd name="T21" fmla="*/ 135 h 151"/>
                <a:gd name="T22" fmla="*/ 883 w 1123"/>
                <a:gd name="T23" fmla="*/ 124 h 151"/>
                <a:gd name="T24" fmla="*/ 883 w 1123"/>
                <a:gd name="T25" fmla="*/ 72 h 151"/>
                <a:gd name="T26" fmla="*/ 910 w 1123"/>
                <a:gd name="T27" fmla="*/ 72 h 151"/>
                <a:gd name="T28" fmla="*/ 910 w 1123"/>
                <a:gd name="T29" fmla="*/ 117 h 151"/>
                <a:gd name="T30" fmla="*/ 900 w 1123"/>
                <a:gd name="T31" fmla="*/ 148 h 151"/>
                <a:gd name="T32" fmla="*/ 897 w 1123"/>
                <a:gd name="T33" fmla="*/ 151 h 151"/>
                <a:gd name="T34" fmla="*/ 937 w 1123"/>
                <a:gd name="T35" fmla="*/ 151 h 151"/>
                <a:gd name="T36" fmla="*/ 920 w 1123"/>
                <a:gd name="T37" fmla="*/ 114 h 151"/>
                <a:gd name="T38" fmla="*/ 964 w 1123"/>
                <a:gd name="T39" fmla="*/ 69 h 151"/>
                <a:gd name="T40" fmla="*/ 998 w 1123"/>
                <a:gd name="T41" fmla="*/ 82 h 151"/>
                <a:gd name="T42" fmla="*/ 1005 w 1123"/>
                <a:gd name="T43" fmla="*/ 92 h 151"/>
                <a:gd name="T44" fmla="*/ 982 w 1123"/>
                <a:gd name="T45" fmla="*/ 103 h 151"/>
                <a:gd name="T46" fmla="*/ 965 w 1123"/>
                <a:gd name="T47" fmla="*/ 89 h 151"/>
                <a:gd name="T48" fmla="*/ 953 w 1123"/>
                <a:gd name="T49" fmla="*/ 94 h 151"/>
                <a:gd name="T50" fmla="*/ 947 w 1123"/>
                <a:gd name="T51" fmla="*/ 113 h 151"/>
                <a:gd name="T52" fmla="*/ 965 w 1123"/>
                <a:gd name="T53" fmla="*/ 137 h 151"/>
                <a:gd name="T54" fmla="*/ 982 w 1123"/>
                <a:gd name="T55" fmla="*/ 123 h 151"/>
                <a:gd name="T56" fmla="*/ 1005 w 1123"/>
                <a:gd name="T57" fmla="*/ 134 h 151"/>
                <a:gd name="T58" fmla="*/ 997 w 1123"/>
                <a:gd name="T59" fmla="*/ 146 h 151"/>
                <a:gd name="T60" fmla="*/ 991 w 1123"/>
                <a:gd name="T61" fmla="*/ 151 h 151"/>
                <a:gd name="T62" fmla="*/ 1016 w 1123"/>
                <a:gd name="T63" fmla="*/ 151 h 151"/>
                <a:gd name="T64" fmla="*/ 1016 w 1123"/>
                <a:gd name="T65" fmla="*/ 72 h 151"/>
                <a:gd name="T66" fmla="*/ 1042 w 1123"/>
                <a:gd name="T67" fmla="*/ 72 h 151"/>
                <a:gd name="T68" fmla="*/ 1042 w 1123"/>
                <a:gd name="T69" fmla="*/ 134 h 151"/>
                <a:gd name="T70" fmla="*/ 1077 w 1123"/>
                <a:gd name="T71" fmla="*/ 134 h 151"/>
                <a:gd name="T72" fmla="*/ 1077 w 1123"/>
                <a:gd name="T73" fmla="*/ 151 h 151"/>
                <a:gd name="T74" fmla="*/ 1123 w 1123"/>
                <a:gd name="T75" fmla="*/ 151 h 151"/>
                <a:gd name="T76" fmla="*/ 1123 w 1123"/>
                <a:gd name="T77" fmla="*/ 0 h 151"/>
                <a:gd name="T78" fmla="*/ 0 w 1123"/>
                <a:gd name="T79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151">
                  <a:moveTo>
                    <a:pt x="0" y="0"/>
                  </a:moveTo>
                  <a:cubicBezTo>
                    <a:pt x="0" y="151"/>
                    <a:pt x="0" y="151"/>
                    <a:pt x="0" y="151"/>
                  </a:cubicBezTo>
                  <a:cubicBezTo>
                    <a:pt x="844" y="151"/>
                    <a:pt x="844" y="151"/>
                    <a:pt x="844" y="151"/>
                  </a:cubicBezTo>
                  <a:cubicBezTo>
                    <a:pt x="843" y="150"/>
                    <a:pt x="842" y="149"/>
                    <a:pt x="841" y="148"/>
                  </a:cubicBezTo>
                  <a:cubicBezTo>
                    <a:pt x="833" y="140"/>
                    <a:pt x="833" y="131"/>
                    <a:pt x="832" y="122"/>
                  </a:cubicBezTo>
                  <a:cubicBezTo>
                    <a:pt x="832" y="72"/>
                    <a:pt x="832" y="72"/>
                    <a:pt x="832" y="72"/>
                  </a:cubicBezTo>
                  <a:cubicBezTo>
                    <a:pt x="859" y="72"/>
                    <a:pt x="859" y="72"/>
                    <a:pt x="859" y="72"/>
                  </a:cubicBezTo>
                  <a:cubicBezTo>
                    <a:pt x="859" y="124"/>
                    <a:pt x="859" y="124"/>
                    <a:pt x="859" y="124"/>
                  </a:cubicBezTo>
                  <a:cubicBezTo>
                    <a:pt x="859" y="128"/>
                    <a:pt x="860" y="132"/>
                    <a:pt x="863" y="135"/>
                  </a:cubicBezTo>
                  <a:cubicBezTo>
                    <a:pt x="865" y="137"/>
                    <a:pt x="868" y="138"/>
                    <a:pt x="871" y="138"/>
                  </a:cubicBezTo>
                  <a:cubicBezTo>
                    <a:pt x="875" y="138"/>
                    <a:pt x="878" y="136"/>
                    <a:pt x="880" y="135"/>
                  </a:cubicBezTo>
                  <a:cubicBezTo>
                    <a:pt x="883" y="132"/>
                    <a:pt x="883" y="128"/>
                    <a:pt x="883" y="124"/>
                  </a:cubicBezTo>
                  <a:cubicBezTo>
                    <a:pt x="883" y="72"/>
                    <a:pt x="883" y="72"/>
                    <a:pt x="883" y="72"/>
                  </a:cubicBezTo>
                  <a:cubicBezTo>
                    <a:pt x="910" y="72"/>
                    <a:pt x="910" y="72"/>
                    <a:pt x="910" y="72"/>
                  </a:cubicBezTo>
                  <a:cubicBezTo>
                    <a:pt x="910" y="117"/>
                    <a:pt x="910" y="117"/>
                    <a:pt x="910" y="117"/>
                  </a:cubicBezTo>
                  <a:cubicBezTo>
                    <a:pt x="910" y="126"/>
                    <a:pt x="910" y="139"/>
                    <a:pt x="900" y="148"/>
                  </a:cubicBezTo>
                  <a:cubicBezTo>
                    <a:pt x="899" y="149"/>
                    <a:pt x="898" y="150"/>
                    <a:pt x="897" y="151"/>
                  </a:cubicBezTo>
                  <a:cubicBezTo>
                    <a:pt x="937" y="151"/>
                    <a:pt x="937" y="151"/>
                    <a:pt x="937" y="151"/>
                  </a:cubicBezTo>
                  <a:cubicBezTo>
                    <a:pt x="925" y="142"/>
                    <a:pt x="920" y="128"/>
                    <a:pt x="920" y="114"/>
                  </a:cubicBezTo>
                  <a:cubicBezTo>
                    <a:pt x="920" y="92"/>
                    <a:pt x="935" y="69"/>
                    <a:pt x="964" y="69"/>
                  </a:cubicBezTo>
                  <a:cubicBezTo>
                    <a:pt x="976" y="69"/>
                    <a:pt x="989" y="73"/>
                    <a:pt x="998" y="82"/>
                  </a:cubicBezTo>
                  <a:cubicBezTo>
                    <a:pt x="1001" y="86"/>
                    <a:pt x="1003" y="89"/>
                    <a:pt x="1005" y="92"/>
                  </a:cubicBezTo>
                  <a:cubicBezTo>
                    <a:pt x="982" y="103"/>
                    <a:pt x="982" y="103"/>
                    <a:pt x="982" y="103"/>
                  </a:cubicBezTo>
                  <a:cubicBezTo>
                    <a:pt x="980" y="98"/>
                    <a:pt x="976" y="89"/>
                    <a:pt x="965" y="89"/>
                  </a:cubicBezTo>
                  <a:cubicBezTo>
                    <a:pt x="959" y="89"/>
                    <a:pt x="955" y="92"/>
                    <a:pt x="953" y="94"/>
                  </a:cubicBezTo>
                  <a:cubicBezTo>
                    <a:pt x="947" y="100"/>
                    <a:pt x="947" y="109"/>
                    <a:pt x="947" y="113"/>
                  </a:cubicBezTo>
                  <a:cubicBezTo>
                    <a:pt x="947" y="125"/>
                    <a:pt x="952" y="137"/>
                    <a:pt x="965" y="137"/>
                  </a:cubicBezTo>
                  <a:cubicBezTo>
                    <a:pt x="977" y="137"/>
                    <a:pt x="981" y="126"/>
                    <a:pt x="982" y="123"/>
                  </a:cubicBezTo>
                  <a:cubicBezTo>
                    <a:pt x="1005" y="134"/>
                    <a:pt x="1005" y="134"/>
                    <a:pt x="1005" y="134"/>
                  </a:cubicBezTo>
                  <a:cubicBezTo>
                    <a:pt x="1003" y="138"/>
                    <a:pt x="1001" y="142"/>
                    <a:pt x="997" y="146"/>
                  </a:cubicBezTo>
                  <a:cubicBezTo>
                    <a:pt x="995" y="148"/>
                    <a:pt x="993" y="150"/>
                    <a:pt x="991" y="151"/>
                  </a:cubicBezTo>
                  <a:cubicBezTo>
                    <a:pt x="1016" y="151"/>
                    <a:pt x="1016" y="151"/>
                    <a:pt x="1016" y="151"/>
                  </a:cubicBezTo>
                  <a:cubicBezTo>
                    <a:pt x="1016" y="72"/>
                    <a:pt x="1016" y="72"/>
                    <a:pt x="1016" y="72"/>
                  </a:cubicBezTo>
                  <a:cubicBezTo>
                    <a:pt x="1042" y="72"/>
                    <a:pt x="1042" y="72"/>
                    <a:pt x="1042" y="72"/>
                  </a:cubicBezTo>
                  <a:cubicBezTo>
                    <a:pt x="1042" y="134"/>
                    <a:pt x="1042" y="134"/>
                    <a:pt x="1042" y="134"/>
                  </a:cubicBezTo>
                  <a:cubicBezTo>
                    <a:pt x="1077" y="134"/>
                    <a:pt x="1077" y="134"/>
                    <a:pt x="1077" y="134"/>
                  </a:cubicBezTo>
                  <a:cubicBezTo>
                    <a:pt x="1077" y="151"/>
                    <a:pt x="1077" y="151"/>
                    <a:pt x="1077" y="151"/>
                  </a:cubicBezTo>
                  <a:cubicBezTo>
                    <a:pt x="1123" y="151"/>
                    <a:pt x="1123" y="151"/>
                    <a:pt x="1123" y="151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7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287999" y="287999"/>
            <a:ext cx="5488958" cy="416193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100" baseline="0">
                <a:solidFill>
                  <a:schemeClr val="bg1"/>
                </a:solidFill>
                <a:latin typeface="Helvetica" pitchFamily="2" charset="0"/>
              </a:defRPr>
            </a:lvl1pPr>
            <a:lvl2pPr marL="0" indent="0">
              <a:lnSpc>
                <a:spcPct val="80000"/>
              </a:lnSpc>
              <a:buNone/>
              <a:defRPr sz="1100">
                <a:solidFill>
                  <a:schemeClr val="bg1"/>
                </a:solidFill>
                <a:latin typeface="Helvetica" pitchFamily="2" charset="0"/>
              </a:defRPr>
            </a:lvl2pPr>
            <a:lvl3pPr marL="0" indent="0">
              <a:buNone/>
              <a:defRPr sz="1100">
                <a:solidFill>
                  <a:schemeClr val="tx1"/>
                </a:solidFill>
              </a:defRPr>
            </a:lvl3pPr>
            <a:lvl4pPr marL="0" indent="0">
              <a:buNone/>
              <a:defRPr sz="1100">
                <a:solidFill>
                  <a:schemeClr val="tx1"/>
                </a:solidFill>
              </a:defRPr>
            </a:lvl4pPr>
            <a:lvl5pPr marL="0" indent="0">
              <a:buNone/>
              <a:defRPr sz="1100">
                <a:solidFill>
                  <a:schemeClr val="tx1"/>
                </a:solidFill>
              </a:defRPr>
            </a:lvl5pPr>
          </a:lstStyle>
          <a:p>
            <a:pPr>
              <a:lnSpc>
                <a:spcPct val="114000"/>
              </a:lnSpc>
            </a:pPr>
            <a:r>
              <a:rPr lang="en-US" dirty="0">
                <a:latin typeface="Helvetica" pitchFamily="2" charset="0"/>
              </a:rPr>
              <a:t>Department of Electronic &amp; Electrical Engineering</a:t>
            </a:r>
            <a:br>
              <a:rPr lang="en-US" dirty="0">
                <a:latin typeface="Helvetica" pitchFamily="2" charset="0"/>
              </a:rPr>
            </a:br>
            <a:r>
              <a:rPr lang="en-US" dirty="0">
                <a:latin typeface="Helvetica" pitchFamily="2" charset="0"/>
              </a:rPr>
              <a:t>Faculty of Engineering Sciences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6BD41C90-D51B-4FE7-9080-EE87B4246E56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B074A37E-2D66-4CC6-BAD6-C2F9729B7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C2D4288A-D562-40F9-A428-C13061DCC7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3B03C3FA-D699-461F-A60A-2AD81F14D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524000" y="360000"/>
            <a:ext cx="147064" cy="172800"/>
          </a:xfrm>
          <a:prstGeom prst="rect">
            <a:avLst/>
          </a:prstGeom>
          <a:noFill/>
        </p:spPr>
      </p:pic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02A824E-2FC0-4C2C-9B83-187255250D06}"/>
              </a:ext>
            </a:extLst>
          </p:cNvPr>
          <p:cNvSpPr>
            <a:spLocks noGrp="1"/>
          </p:cNvSpPr>
          <p:nvPr userDrawn="1">
            <p:ph sz="quarter" idx="14"/>
          </p:nvPr>
        </p:nvSpPr>
        <p:spPr>
          <a:xfrm>
            <a:off x="630000" y="1386000"/>
            <a:ext cx="7887600" cy="3128578"/>
          </a:xfrm>
        </p:spPr>
        <p:txBody>
          <a:bodyPr>
            <a:normAutofit/>
          </a:bodyPr>
          <a:lstStyle>
            <a:lvl1pPr marL="1778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556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2pPr>
            <a:lvl3pPr marL="534988" indent="-179388">
              <a:defRPr sz="2400" b="0">
                <a:solidFill>
                  <a:schemeClr val="tx1"/>
                </a:solidFill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CE05F7E-50D7-4DDD-9F3C-546AF69CC7DD}"/>
              </a:ext>
            </a:extLst>
          </p:cNvPr>
          <p:cNvSpPr>
            <a:spLocks noGrp="1"/>
          </p:cNvSpPr>
          <p:nvPr userDrawn="1">
            <p:ph type="body" sz="quarter" idx="13"/>
          </p:nvPr>
        </p:nvSpPr>
        <p:spPr>
          <a:xfrm>
            <a:off x="630000" y="858891"/>
            <a:ext cx="7887600" cy="525740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97A9"/>
                </a:solidFill>
                <a:latin typeface="Helvetica" pitchFamily="2" charset="0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E5B0F-5775-4DE6-9DC6-BA08FE6BED36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Electric Field Computation for THz Emission</a:t>
            </a:r>
            <a:br>
              <a:rPr lang="en-GB" sz="1100">
                <a:solidFill>
                  <a:schemeClr val="bg1"/>
                </a:solidFill>
                <a:latin typeface="Helvetica" pitchFamily="2" charset="0"/>
              </a:rPr>
            </a:b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070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380BF1C7-E2FB-4FF0-9A1C-BB5A9964F265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13B2CBEF-3E59-4967-AB64-4D64C22D2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0CDCFCC-5B7D-4F76-810D-5B3388560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CE05F7E-50D7-4DDD-9F3C-546AF69CC7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" y="858891"/>
            <a:ext cx="7887600" cy="525740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rgbClr val="0097A9"/>
                </a:solidFill>
                <a:latin typeface="Helvetica" pitchFamily="2" charset="0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/>
              <a:t>Click to edit Master text style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F02A824E-2FC0-4C2C-9B83-187255250D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0000" y="1386000"/>
            <a:ext cx="3942000" cy="3128578"/>
          </a:xfrm>
        </p:spPr>
        <p:txBody>
          <a:bodyPr>
            <a:normAutofit/>
          </a:bodyPr>
          <a:lstStyle>
            <a:lvl1pPr marL="1778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556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2pPr>
            <a:lvl3pPr marL="534988" indent="-179388">
              <a:defRPr sz="2400" b="0">
                <a:solidFill>
                  <a:schemeClr val="tx1"/>
                </a:solidFill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Content Placeholder 17">
            <a:extLst>
              <a:ext uri="{FF2B5EF4-FFF2-40B4-BE49-F238E27FC236}">
                <a16:creationId xmlns:a16="http://schemas.microsoft.com/office/drawing/2014/main" id="{ABE3DB23-446F-403E-8CD8-8E34141D74B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5600" y="1386000"/>
            <a:ext cx="3942000" cy="3128578"/>
          </a:xfrm>
        </p:spPr>
        <p:txBody>
          <a:bodyPr>
            <a:normAutofit/>
          </a:bodyPr>
          <a:lstStyle>
            <a:lvl1pPr marL="1778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55600" indent="-177800">
              <a:defRPr sz="2400" b="0">
                <a:solidFill>
                  <a:schemeClr val="tx1"/>
                </a:solidFill>
                <a:latin typeface="Helvetica" pitchFamily="2" charset="0"/>
              </a:defRPr>
            </a:lvl2pPr>
            <a:lvl3pPr marL="534988" indent="-179388">
              <a:defRPr sz="2400" b="0">
                <a:solidFill>
                  <a:schemeClr val="tx1"/>
                </a:solidFill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A74D432-2D68-4FCE-81F9-7499218BC034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Your Electric Field Computation for THz Emission</a:t>
            </a:r>
            <a:br>
              <a:rPr lang="en-GB" sz="1100">
                <a:solidFill>
                  <a:schemeClr val="bg1"/>
                </a:solidFill>
                <a:latin typeface="Helvetica" pitchFamily="2" charset="0"/>
              </a:rPr>
            </a:b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90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0FB4D6FA-29A3-4FA8-92C1-4779E95B8EF7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E3F12A22-29E5-4B8D-84F2-8BDCB3F2C00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730C075-A730-447C-9A7F-D84A44803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862384"/>
            <a:ext cx="7886700" cy="678815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3D4C"/>
                </a:solidFill>
                <a:latin typeface="Helvetica" pitchFamily="2" charset="0"/>
                <a:ea typeface="Helvetica" pitchFamily="2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49" y="1641806"/>
            <a:ext cx="7886699" cy="3139744"/>
          </a:xfrm>
        </p:spPr>
        <p:txBody>
          <a:bodyPr>
            <a:normAutofit/>
          </a:bodyPr>
          <a:lstStyle>
            <a:lvl1pPr marL="180975" indent="-180975"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628650" indent="-266700">
              <a:defRPr sz="2400" b="0"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90000" marR="0" lvl="0" indent="-900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-1" y="1"/>
            <a:ext cx="9144001" cy="333152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3C28B-3C79-4571-B38C-E8AB08B1BC17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Your Electric Field Computation for THz Emission</a:t>
            </a:r>
            <a:br>
              <a:rPr lang="en-GB" sz="1100">
                <a:solidFill>
                  <a:schemeClr val="bg1"/>
                </a:solidFill>
                <a:latin typeface="Helvetica" pitchFamily="2" charset="0"/>
              </a:rPr>
            </a:b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239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ernative two colum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C7C9EC5-ACBD-47D2-9977-B888DE4BAF1F}"/>
              </a:ext>
            </a:extLst>
          </p:cNvPr>
          <p:cNvGrpSpPr/>
          <p:nvPr userDrawn="1"/>
        </p:nvGrpSpPr>
        <p:grpSpPr>
          <a:xfrm>
            <a:off x="0" y="-1588"/>
            <a:ext cx="9144000" cy="741363"/>
            <a:chOff x="0" y="-1588"/>
            <a:chExt cx="9144000" cy="741363"/>
          </a:xfrm>
          <a:solidFill>
            <a:srgbClr val="D6D2C4"/>
          </a:solidFill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B122B41C-4569-4E1F-9D1A-07A7DD4DD2D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-1588"/>
              <a:ext cx="9144000" cy="741363"/>
            </a:xfrm>
            <a:custGeom>
              <a:avLst/>
              <a:gdLst>
                <a:gd name="T0" fmla="*/ 0 w 1123"/>
                <a:gd name="T1" fmla="*/ 0 h 90"/>
                <a:gd name="T2" fmla="*/ 0 w 1123"/>
                <a:gd name="T3" fmla="*/ 90 h 90"/>
                <a:gd name="T4" fmla="*/ 957 w 1123"/>
                <a:gd name="T5" fmla="*/ 90 h 90"/>
                <a:gd name="T6" fmla="*/ 955 w 1123"/>
                <a:gd name="T7" fmla="*/ 89 h 90"/>
                <a:gd name="T8" fmla="*/ 949 w 1123"/>
                <a:gd name="T9" fmla="*/ 73 h 90"/>
                <a:gd name="T10" fmla="*/ 949 w 1123"/>
                <a:gd name="T11" fmla="*/ 43 h 90"/>
                <a:gd name="T12" fmla="*/ 966 w 1123"/>
                <a:gd name="T13" fmla="*/ 43 h 90"/>
                <a:gd name="T14" fmla="*/ 966 w 1123"/>
                <a:gd name="T15" fmla="*/ 74 h 90"/>
                <a:gd name="T16" fmla="*/ 967 w 1123"/>
                <a:gd name="T17" fmla="*/ 80 h 90"/>
                <a:gd name="T18" fmla="*/ 973 w 1123"/>
                <a:gd name="T19" fmla="*/ 82 h 90"/>
                <a:gd name="T20" fmla="*/ 978 w 1123"/>
                <a:gd name="T21" fmla="*/ 80 h 90"/>
                <a:gd name="T22" fmla="*/ 980 w 1123"/>
                <a:gd name="T23" fmla="*/ 74 h 90"/>
                <a:gd name="T24" fmla="*/ 980 w 1123"/>
                <a:gd name="T25" fmla="*/ 43 h 90"/>
                <a:gd name="T26" fmla="*/ 996 w 1123"/>
                <a:gd name="T27" fmla="*/ 43 h 90"/>
                <a:gd name="T28" fmla="*/ 996 w 1123"/>
                <a:gd name="T29" fmla="*/ 70 h 90"/>
                <a:gd name="T30" fmla="*/ 990 w 1123"/>
                <a:gd name="T31" fmla="*/ 89 h 90"/>
                <a:gd name="T32" fmla="*/ 988 w 1123"/>
                <a:gd name="T33" fmla="*/ 90 h 90"/>
                <a:gd name="T34" fmla="*/ 1012 w 1123"/>
                <a:gd name="T35" fmla="*/ 90 h 90"/>
                <a:gd name="T36" fmla="*/ 1002 w 1123"/>
                <a:gd name="T37" fmla="*/ 68 h 90"/>
                <a:gd name="T38" fmla="*/ 1028 w 1123"/>
                <a:gd name="T39" fmla="*/ 41 h 90"/>
                <a:gd name="T40" fmla="*/ 1048 w 1123"/>
                <a:gd name="T41" fmla="*/ 49 h 90"/>
                <a:gd name="T42" fmla="*/ 1052 w 1123"/>
                <a:gd name="T43" fmla="*/ 55 h 90"/>
                <a:gd name="T44" fmla="*/ 1039 w 1123"/>
                <a:gd name="T45" fmla="*/ 62 h 90"/>
                <a:gd name="T46" fmla="*/ 1028 w 1123"/>
                <a:gd name="T47" fmla="*/ 53 h 90"/>
                <a:gd name="T48" fmla="*/ 1022 w 1123"/>
                <a:gd name="T49" fmla="*/ 56 h 90"/>
                <a:gd name="T50" fmla="*/ 1018 w 1123"/>
                <a:gd name="T51" fmla="*/ 67 h 90"/>
                <a:gd name="T52" fmla="*/ 1028 w 1123"/>
                <a:gd name="T53" fmla="*/ 82 h 90"/>
                <a:gd name="T54" fmla="*/ 1039 w 1123"/>
                <a:gd name="T55" fmla="*/ 74 h 90"/>
                <a:gd name="T56" fmla="*/ 1052 w 1123"/>
                <a:gd name="T57" fmla="*/ 80 h 90"/>
                <a:gd name="T58" fmla="*/ 1047 w 1123"/>
                <a:gd name="T59" fmla="*/ 87 h 90"/>
                <a:gd name="T60" fmla="*/ 1044 w 1123"/>
                <a:gd name="T61" fmla="*/ 90 h 90"/>
                <a:gd name="T62" fmla="*/ 1059 w 1123"/>
                <a:gd name="T63" fmla="*/ 90 h 90"/>
                <a:gd name="T64" fmla="*/ 1059 w 1123"/>
                <a:gd name="T65" fmla="*/ 43 h 90"/>
                <a:gd name="T66" fmla="*/ 1075 w 1123"/>
                <a:gd name="T67" fmla="*/ 43 h 90"/>
                <a:gd name="T68" fmla="*/ 1075 w 1123"/>
                <a:gd name="T69" fmla="*/ 80 h 90"/>
                <a:gd name="T70" fmla="*/ 1096 w 1123"/>
                <a:gd name="T71" fmla="*/ 80 h 90"/>
                <a:gd name="T72" fmla="*/ 1096 w 1123"/>
                <a:gd name="T73" fmla="*/ 90 h 90"/>
                <a:gd name="T74" fmla="*/ 1123 w 1123"/>
                <a:gd name="T75" fmla="*/ 90 h 90"/>
                <a:gd name="T76" fmla="*/ 1123 w 1123"/>
                <a:gd name="T77" fmla="*/ 0 h 90"/>
                <a:gd name="T78" fmla="*/ 0 w 1123"/>
                <a:gd name="T79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123" h="90">
                  <a:moveTo>
                    <a:pt x="0" y="0"/>
                  </a:moveTo>
                  <a:cubicBezTo>
                    <a:pt x="0" y="90"/>
                    <a:pt x="0" y="90"/>
                    <a:pt x="0" y="90"/>
                  </a:cubicBezTo>
                  <a:cubicBezTo>
                    <a:pt x="957" y="90"/>
                    <a:pt x="957" y="90"/>
                    <a:pt x="957" y="90"/>
                  </a:cubicBezTo>
                  <a:cubicBezTo>
                    <a:pt x="956" y="90"/>
                    <a:pt x="955" y="89"/>
                    <a:pt x="955" y="89"/>
                  </a:cubicBezTo>
                  <a:cubicBezTo>
                    <a:pt x="950" y="84"/>
                    <a:pt x="950" y="78"/>
                    <a:pt x="949" y="73"/>
                  </a:cubicBezTo>
                  <a:cubicBezTo>
                    <a:pt x="949" y="43"/>
                    <a:pt x="949" y="43"/>
                    <a:pt x="949" y="43"/>
                  </a:cubicBezTo>
                  <a:cubicBezTo>
                    <a:pt x="966" y="43"/>
                    <a:pt x="966" y="43"/>
                    <a:pt x="966" y="43"/>
                  </a:cubicBezTo>
                  <a:cubicBezTo>
                    <a:pt x="966" y="74"/>
                    <a:pt x="966" y="74"/>
                    <a:pt x="966" y="74"/>
                  </a:cubicBezTo>
                  <a:cubicBezTo>
                    <a:pt x="966" y="76"/>
                    <a:pt x="966" y="79"/>
                    <a:pt x="967" y="80"/>
                  </a:cubicBezTo>
                  <a:cubicBezTo>
                    <a:pt x="969" y="82"/>
                    <a:pt x="971" y="82"/>
                    <a:pt x="973" y="82"/>
                  </a:cubicBezTo>
                  <a:cubicBezTo>
                    <a:pt x="975" y="82"/>
                    <a:pt x="977" y="81"/>
                    <a:pt x="978" y="80"/>
                  </a:cubicBezTo>
                  <a:cubicBezTo>
                    <a:pt x="979" y="79"/>
                    <a:pt x="980" y="76"/>
                    <a:pt x="980" y="74"/>
                  </a:cubicBezTo>
                  <a:cubicBezTo>
                    <a:pt x="980" y="43"/>
                    <a:pt x="980" y="43"/>
                    <a:pt x="980" y="43"/>
                  </a:cubicBezTo>
                  <a:cubicBezTo>
                    <a:pt x="996" y="43"/>
                    <a:pt x="996" y="43"/>
                    <a:pt x="996" y="43"/>
                  </a:cubicBezTo>
                  <a:cubicBezTo>
                    <a:pt x="996" y="70"/>
                    <a:pt x="996" y="70"/>
                    <a:pt x="996" y="70"/>
                  </a:cubicBezTo>
                  <a:cubicBezTo>
                    <a:pt x="996" y="75"/>
                    <a:pt x="996" y="83"/>
                    <a:pt x="990" y="89"/>
                  </a:cubicBezTo>
                  <a:cubicBezTo>
                    <a:pt x="989" y="89"/>
                    <a:pt x="989" y="90"/>
                    <a:pt x="988" y="90"/>
                  </a:cubicBezTo>
                  <a:cubicBezTo>
                    <a:pt x="1012" y="90"/>
                    <a:pt x="1012" y="90"/>
                    <a:pt x="1012" y="90"/>
                  </a:cubicBezTo>
                  <a:cubicBezTo>
                    <a:pt x="1005" y="85"/>
                    <a:pt x="1002" y="76"/>
                    <a:pt x="1002" y="68"/>
                  </a:cubicBezTo>
                  <a:cubicBezTo>
                    <a:pt x="1002" y="55"/>
                    <a:pt x="1011" y="41"/>
                    <a:pt x="1028" y="41"/>
                  </a:cubicBezTo>
                  <a:cubicBezTo>
                    <a:pt x="1035" y="41"/>
                    <a:pt x="1043" y="44"/>
                    <a:pt x="1048" y="49"/>
                  </a:cubicBezTo>
                  <a:cubicBezTo>
                    <a:pt x="1050" y="51"/>
                    <a:pt x="1051" y="53"/>
                    <a:pt x="1052" y="55"/>
                  </a:cubicBezTo>
                  <a:cubicBezTo>
                    <a:pt x="1039" y="62"/>
                    <a:pt x="1039" y="62"/>
                    <a:pt x="1039" y="62"/>
                  </a:cubicBezTo>
                  <a:cubicBezTo>
                    <a:pt x="1038" y="59"/>
                    <a:pt x="1035" y="53"/>
                    <a:pt x="1028" y="53"/>
                  </a:cubicBezTo>
                  <a:cubicBezTo>
                    <a:pt x="1025" y="53"/>
                    <a:pt x="1023" y="55"/>
                    <a:pt x="1022" y="56"/>
                  </a:cubicBezTo>
                  <a:cubicBezTo>
                    <a:pt x="1018" y="60"/>
                    <a:pt x="1018" y="65"/>
                    <a:pt x="1018" y="67"/>
                  </a:cubicBezTo>
                  <a:cubicBezTo>
                    <a:pt x="1018" y="75"/>
                    <a:pt x="1021" y="82"/>
                    <a:pt x="1028" y="82"/>
                  </a:cubicBezTo>
                  <a:cubicBezTo>
                    <a:pt x="1036" y="82"/>
                    <a:pt x="1038" y="75"/>
                    <a:pt x="1039" y="74"/>
                  </a:cubicBezTo>
                  <a:cubicBezTo>
                    <a:pt x="1052" y="80"/>
                    <a:pt x="1052" y="80"/>
                    <a:pt x="1052" y="80"/>
                  </a:cubicBezTo>
                  <a:cubicBezTo>
                    <a:pt x="1051" y="83"/>
                    <a:pt x="1050" y="85"/>
                    <a:pt x="1047" y="87"/>
                  </a:cubicBezTo>
                  <a:cubicBezTo>
                    <a:pt x="1046" y="88"/>
                    <a:pt x="1045" y="89"/>
                    <a:pt x="1044" y="90"/>
                  </a:cubicBezTo>
                  <a:cubicBezTo>
                    <a:pt x="1059" y="90"/>
                    <a:pt x="1059" y="90"/>
                    <a:pt x="1059" y="90"/>
                  </a:cubicBezTo>
                  <a:cubicBezTo>
                    <a:pt x="1059" y="43"/>
                    <a:pt x="1059" y="43"/>
                    <a:pt x="1059" y="43"/>
                  </a:cubicBezTo>
                  <a:cubicBezTo>
                    <a:pt x="1075" y="43"/>
                    <a:pt x="1075" y="43"/>
                    <a:pt x="1075" y="43"/>
                  </a:cubicBezTo>
                  <a:cubicBezTo>
                    <a:pt x="1075" y="80"/>
                    <a:pt x="1075" y="80"/>
                    <a:pt x="1075" y="80"/>
                  </a:cubicBezTo>
                  <a:cubicBezTo>
                    <a:pt x="1096" y="80"/>
                    <a:pt x="1096" y="80"/>
                    <a:pt x="1096" y="80"/>
                  </a:cubicBezTo>
                  <a:cubicBezTo>
                    <a:pt x="1096" y="90"/>
                    <a:pt x="1096" y="90"/>
                    <a:pt x="1096" y="90"/>
                  </a:cubicBezTo>
                  <a:cubicBezTo>
                    <a:pt x="1123" y="90"/>
                    <a:pt x="1123" y="90"/>
                    <a:pt x="1123" y="90"/>
                  </a:cubicBezTo>
                  <a:cubicBezTo>
                    <a:pt x="1123" y="0"/>
                    <a:pt x="1123" y="0"/>
                    <a:pt x="112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3D4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E61D5F28-D2CF-4BA5-A78C-7E74959F23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524000" y="360000"/>
              <a:ext cx="147064" cy="172800"/>
            </a:xfrm>
            <a:prstGeom prst="rect">
              <a:avLst/>
            </a:prstGeom>
            <a:noFill/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862384"/>
            <a:ext cx="7886700" cy="678815"/>
          </a:xfrm>
          <a:prstGeom prst="rect">
            <a:avLst/>
          </a:prstGeom>
        </p:spPr>
        <p:txBody>
          <a:bodyPr/>
          <a:lstStyle>
            <a:lvl1pPr>
              <a:defRPr sz="3200" b="1">
                <a:solidFill>
                  <a:srgbClr val="003D4C"/>
                </a:solidFill>
                <a:latin typeface="Helvetica" pitchFamily="2" charset="0"/>
                <a:ea typeface="Helvetica" pitchFamily="2" charset="0"/>
                <a:cs typeface="Arial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49" y="1641806"/>
            <a:ext cx="3943351" cy="3139744"/>
          </a:xfrm>
        </p:spPr>
        <p:txBody>
          <a:bodyPr>
            <a:normAutofit/>
          </a:bodyPr>
          <a:lstStyle>
            <a:lvl1pPr marL="180975" indent="-180975"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628650" indent="-266700">
              <a:defRPr sz="2400" b="0"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90000" marR="0" lvl="0" indent="-900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-1" y="1"/>
            <a:ext cx="9144001" cy="333152"/>
          </a:xfrm>
          <a:prstGeom prst="rect">
            <a:avLst/>
          </a:prstGeom>
          <a:solidFill>
            <a:srgbClr val="003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6B7243E-B715-4A47-ACBF-8DB06C0BF2C3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72000" y="1641806"/>
            <a:ext cx="3943351" cy="3139744"/>
          </a:xfrm>
        </p:spPr>
        <p:txBody>
          <a:bodyPr>
            <a:normAutofit/>
          </a:bodyPr>
          <a:lstStyle>
            <a:lvl1pPr marL="180975" indent="-180975">
              <a:buFont typeface="Arial" panose="020B0604020202020204" pitchFamily="34" charset="0"/>
              <a:buChar char="•"/>
              <a:defRPr sz="2400" b="0">
                <a:solidFill>
                  <a:schemeClr val="tx1"/>
                </a:solidFill>
                <a:latin typeface="Helvetica" pitchFamily="2" charset="0"/>
              </a:defRPr>
            </a:lvl1pPr>
            <a:lvl2pPr marL="361950" indent="-180975">
              <a:defRPr sz="2400" b="0">
                <a:latin typeface="Helvetica" pitchFamily="2" charset="0"/>
              </a:defRPr>
            </a:lvl2pPr>
            <a:lvl3pPr marL="628650" indent="-266700">
              <a:defRPr sz="2400" b="0">
                <a:latin typeface="Helvetica" pitchFamily="2" charset="0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marL="90000" marR="0" lvl="0" indent="-90000" algn="l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cs typeface="Arial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84BC6-D831-4D2F-9688-3D46EF7C03E6}"/>
              </a:ext>
            </a:extLst>
          </p:cNvPr>
          <p:cNvSpPr txBox="1"/>
          <p:nvPr userDrawn="1"/>
        </p:nvSpPr>
        <p:spPr>
          <a:xfrm>
            <a:off x="287999" y="163606"/>
            <a:ext cx="5488958" cy="4161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13000"/>
              </a:lnSpc>
            </a:pP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Your Electric Field Computation for THz Emission</a:t>
            </a:r>
            <a:br>
              <a:rPr lang="en-GB" sz="1100">
                <a:solidFill>
                  <a:schemeClr val="bg1"/>
                </a:solidFill>
                <a:latin typeface="Helvetica" pitchFamily="2" charset="0"/>
              </a:rPr>
            </a:br>
            <a:r>
              <a:rPr lang="en-GB" sz="1100">
                <a:solidFill>
                  <a:schemeClr val="bg1"/>
                </a:solidFill>
                <a:latin typeface="Helvetica" pitchFamily="2" charset="0"/>
              </a:rPr>
              <a:t>Department of Electronic &amp; Electrical Engineering</a:t>
            </a:r>
            <a:endParaRPr lang="en-GB" sz="1100" dirty="0">
              <a:solidFill>
                <a:schemeClr val="bg1"/>
              </a:solidFill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43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00742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165187" y="165584"/>
            <a:ext cx="3216840" cy="704975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marL="12700"/>
            <a:endParaRPr lang="en-GB" sz="1000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87504A-F7CD-42C0-85BE-600064000CF1}"/>
              </a:ext>
            </a:extLst>
          </p:cNvPr>
          <p:cNvSpPr txBox="1"/>
          <p:nvPr userDrawn="1"/>
        </p:nvSpPr>
        <p:spPr>
          <a:xfrm>
            <a:off x="7686675" y="4774168"/>
            <a:ext cx="13484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Slide </a:t>
            </a:r>
            <a:fld id="{392043B3-3542-497E-9F7F-145FB995996D}" type="slidenum">
              <a:rPr lang="en-GB" sz="1600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r>
              <a:rPr lang="en-GB" sz="1600" dirty="0">
                <a:latin typeface="Arial" panose="020B0604020202020204" pitchFamily="34" charset="0"/>
                <a:cs typeface="Arial" panose="020B0604020202020204" pitchFamily="34" charset="0"/>
              </a:rPr>
              <a:t> of 4</a:t>
            </a:r>
          </a:p>
        </p:txBody>
      </p:sp>
    </p:spTree>
    <p:extLst>
      <p:ext uri="{BB962C8B-B14F-4D97-AF65-F5344CB8AC3E}">
        <p14:creationId xmlns:p14="http://schemas.microsoft.com/office/powerpoint/2010/main" val="30830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814" r:id="rId2"/>
    <p:sldLayoutId id="2147483815" r:id="rId3"/>
    <p:sldLayoutId id="2147483813" r:id="rId4"/>
    <p:sldLayoutId id="2147483816" r:id="rId5"/>
  </p:sldLayoutIdLst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388" indent="-179388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1pPr>
      <a:lvl2pPr marL="357188" indent="-1778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2pPr>
      <a:lvl3pPr marL="536575" indent="-179388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tabLst>
          <a:tab pos="447675" algn="l"/>
        </a:tabLst>
        <a:defRPr sz="2400" b="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3pPr>
      <a:lvl4pPr marL="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4pPr>
      <a:lvl5pPr marL="90000" indent="-9000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00" b="1" kern="1200">
          <a:solidFill>
            <a:schemeClr val="tx1"/>
          </a:solidFill>
          <a:latin typeface="Helvetica" pitchFamily="2" charset="0"/>
          <a:ea typeface="Helvetica" pitchFamily="2" charset="0"/>
          <a:cs typeface="Arial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1DA800-4800-B1EC-31E6-CAE699BE9A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53D2820D-9E91-7C8E-CD71-422C6685792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649899" y="2606675"/>
            <a:ext cx="1844202" cy="2166938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62CF3838-4183-B2DF-B5A4-318F4C52F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65D0D5-CD35-A6A6-1FD2-696702869D8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1B3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25545D-A847-4D12-D635-8819787E6169}"/>
              </a:ext>
            </a:extLst>
          </p:cNvPr>
          <p:cNvSpPr/>
          <p:nvPr/>
        </p:nvSpPr>
        <p:spPr>
          <a:xfrm>
            <a:off x="0" y="0"/>
            <a:ext cx="3149600" cy="5143500"/>
          </a:xfrm>
          <a:prstGeom prst="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8B2792F-7532-F161-C6A3-CCE9FCAC752B}"/>
              </a:ext>
            </a:extLst>
          </p:cNvPr>
          <p:cNvSpPr txBox="1"/>
          <p:nvPr/>
        </p:nvSpPr>
        <p:spPr>
          <a:xfrm>
            <a:off x="533400" y="1168400"/>
            <a:ext cx="5334000" cy="83099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700" b="1">
                <a:solidFill>
                  <a:srgbClr val="FFFFFF"/>
                </a:solidFill>
                <a:latin typeface="Arial" panose="020B0604020202020204" pitchFamily="34" charset="0"/>
              </a:rPr>
              <a:t>Electric Field Computation for THz Emission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59DBFF-1D80-5DC3-CF7B-6EA61518A62E}"/>
              </a:ext>
            </a:extLst>
          </p:cNvPr>
          <p:cNvSpPr txBox="1"/>
          <p:nvPr/>
        </p:nvSpPr>
        <p:spPr>
          <a:xfrm>
            <a:off x="546100" y="2209800"/>
            <a:ext cx="39370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50">
                <a:solidFill>
                  <a:srgbClr val="D7E8F7"/>
                </a:solidFill>
                <a:latin typeface="Arial" panose="020B0604020202020204" pitchFamily="34" charset="0"/>
              </a:rPr>
              <a:t>from ultrafast semiconductor photocurrents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2BEB52F-6271-610A-3CDB-96622EF0BFBD}"/>
              </a:ext>
            </a:extLst>
          </p:cNvPr>
          <p:cNvCxnSpPr/>
          <p:nvPr/>
        </p:nvCxnSpPr>
        <p:spPr>
          <a:xfrm>
            <a:off x="546100" y="2679700"/>
            <a:ext cx="1079500" cy="0"/>
          </a:xfrm>
          <a:prstGeom prst="line">
            <a:avLst/>
          </a:prstGeom>
          <a:ln w="4445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B082DA1-5448-8200-8878-C3E2A3D19CD6}"/>
              </a:ext>
            </a:extLst>
          </p:cNvPr>
          <p:cNvSpPr txBox="1"/>
          <p:nvPr/>
        </p:nvSpPr>
        <p:spPr>
          <a:xfrm>
            <a:off x="3683000" y="1168400"/>
            <a:ext cx="1270000" cy="1308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850" b="1">
                <a:solidFill>
                  <a:srgbClr val="F6A800"/>
                </a:solidFill>
                <a:latin typeface="Arial" panose="020B0604020202020204" pitchFamily="34" charset="0"/>
              </a:rPr>
              <a:t>KEY MESSAGE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C14462F-30FB-97A8-ED86-B9BFFAB644A6}"/>
              </a:ext>
            </a:extLst>
          </p:cNvPr>
          <p:cNvSpPr txBox="1"/>
          <p:nvPr/>
        </p:nvSpPr>
        <p:spPr>
          <a:xfrm>
            <a:off x="3683000" y="1473200"/>
            <a:ext cx="4445000" cy="138499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FFFFFF"/>
                </a:solidFill>
                <a:latin typeface="Arial" panose="020B0604020202020204" pitchFamily="34" charset="0"/>
              </a:rPr>
              <a:t>A retarded-potential model can turn simulated photocurrent dynamics into measurable THz waveforms and reproduce the observed angular emission pattern.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C71095-278B-BC08-952C-8DFA2D2B0BF4}"/>
              </a:ext>
            </a:extLst>
          </p:cNvPr>
          <p:cNvSpPr txBox="1"/>
          <p:nvPr/>
        </p:nvSpPr>
        <p:spPr>
          <a:xfrm>
            <a:off x="546100" y="3683000"/>
            <a:ext cx="4127500" cy="61555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FFFFFF"/>
                </a:solidFill>
                <a:latin typeface="Arial" panose="020B0604020202020204" pitchFamily="34" charset="0"/>
              </a:rPr>
              <a:t>Yaoqi Dong</a:t>
            </a:r>
          </a:p>
          <a:p>
            <a:r>
              <a:rPr lang="en-GB" sz="1000">
                <a:solidFill>
                  <a:srgbClr val="FFFFFF"/>
                </a:solidFill>
                <a:latin typeface="Arial" panose="020B0604020202020204" pitchFamily="34" charset="0"/>
              </a:rPr>
              <a:t>Supervisor: Professor Oleg Mitrofanov</a:t>
            </a:r>
          </a:p>
          <a:p>
            <a:r>
              <a:rPr lang="en-GB" sz="1000">
                <a:solidFill>
                  <a:srgbClr val="FFFFFF"/>
                </a:solidFill>
                <a:latin typeface="Arial" panose="020B0604020202020204" pitchFamily="34" charset="0"/>
              </a:rPr>
              <a:t>Department of Electronic &amp; Electrical Engineering</a:t>
            </a:r>
          </a:p>
          <a:p>
            <a:r>
              <a:rPr lang="en-GB" sz="1000">
                <a:solidFill>
                  <a:srgbClr val="FFFFFF"/>
                </a:solidFill>
                <a:latin typeface="Arial" panose="020B0604020202020204" pitchFamily="34" charset="0"/>
              </a:rPr>
              <a:t>Faculty of Engineering Sciences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1373BD-9120-6BC0-6575-932C92D61FAD}"/>
              </a:ext>
            </a:extLst>
          </p:cNvPr>
          <p:cNvSpPr txBox="1"/>
          <p:nvPr/>
        </p:nvSpPr>
        <p:spPr>
          <a:xfrm>
            <a:off x="3683000" y="4038600"/>
            <a:ext cx="3302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>
                <a:solidFill>
                  <a:srgbClr val="BFD5E8"/>
                </a:solidFill>
                <a:latin typeface="Arial" panose="020B0604020202020204" pitchFamily="34" charset="0"/>
              </a:rPr>
              <a:t>4th Year MEng Final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46775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00"/>
    </mc:Choice>
    <mc:Fallback xmlns="">
      <p:transition spd="slow" advTm="10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921500" cy="609600"/>
          </a:xfrm>
        </p:spPr>
        <p:txBody>
          <a:bodyPr>
            <a:normAutofit/>
          </a:bodyPr>
          <a:lstStyle/>
          <a:p>
            <a:r>
              <a:rPr lang="en-GB" sz="1550">
                <a:solidFill>
                  <a:srgbClr val="001B3A"/>
                </a:solidFill>
                <a:latin typeface="Arial" panose="020B0604020202020204" pitchFamily="34" charset="0"/>
              </a:rPr>
              <a:t>The modelling gap is the link between local photocurrent and far-field THz radiation</a:t>
            </a:r>
            <a:endParaRPr lang="en-GB" sz="155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7EA0C-3DCA-DAD9-A18F-8B2081FD59B7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C395394-43CA-FAC6-D071-7A2217DFEEA0}"/>
              </a:ext>
            </a:extLst>
          </p:cNvPr>
          <p:cNvCxnSpPr/>
          <p:nvPr/>
        </p:nvCxnSpPr>
        <p:spPr>
          <a:xfrm>
            <a:off x="635000" y="13081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A55D3AF-7A78-7237-EECC-0E473C725C4C}"/>
              </a:ext>
            </a:extLst>
          </p:cNvPr>
          <p:cNvSpPr/>
          <p:nvPr/>
        </p:nvSpPr>
        <p:spPr>
          <a:xfrm>
            <a:off x="609600" y="1346200"/>
            <a:ext cx="2095500" cy="787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F241D7-13BD-A1F0-2848-F4738ACBF7F3}"/>
              </a:ext>
            </a:extLst>
          </p:cNvPr>
          <p:cNvSpPr txBox="1"/>
          <p:nvPr/>
        </p:nvSpPr>
        <p:spPr>
          <a:xfrm>
            <a:off x="711200" y="1460500"/>
            <a:ext cx="1892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50" b="1">
                <a:solidFill>
                  <a:srgbClr val="001B3A"/>
                </a:solidFill>
                <a:latin typeface="Arial" panose="020B0604020202020204" pitchFamily="34" charset="0"/>
              </a:rPr>
              <a:t>ultrafast optical pulse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4ABC10-F3DF-0460-89FC-CC8D2F8CBE91}"/>
              </a:ext>
            </a:extLst>
          </p:cNvPr>
          <p:cNvSpPr txBox="1"/>
          <p:nvPr/>
        </p:nvSpPr>
        <p:spPr>
          <a:xfrm>
            <a:off x="711200" y="1866900"/>
            <a:ext cx="18923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750">
                <a:solidFill>
                  <a:srgbClr val="5B6770"/>
                </a:solidFill>
                <a:latin typeface="Arial" panose="020B0604020202020204" pitchFamily="34" charset="0"/>
              </a:rPr>
              <a:t>excites carriers at semiconductor surface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7EC4609-AB18-321E-6B40-5BDF9C7B4EB4}"/>
              </a:ext>
            </a:extLst>
          </p:cNvPr>
          <p:cNvSpPr/>
          <p:nvPr/>
        </p:nvSpPr>
        <p:spPr>
          <a:xfrm>
            <a:off x="3530600" y="1346200"/>
            <a:ext cx="2095500" cy="787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2DCD03-2C66-5834-B6D4-EA9E9883EE7E}"/>
              </a:ext>
            </a:extLst>
          </p:cNvPr>
          <p:cNvSpPr txBox="1"/>
          <p:nvPr/>
        </p:nvSpPr>
        <p:spPr>
          <a:xfrm>
            <a:off x="3632200" y="1460500"/>
            <a:ext cx="1892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50" b="1">
                <a:solidFill>
                  <a:srgbClr val="001B3A"/>
                </a:solidFill>
                <a:latin typeface="Arial" panose="020B0604020202020204" pitchFamily="34" charset="0"/>
              </a:rPr>
              <a:t>J(r,t)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D124F0-A249-80A1-8955-E65DA716CBEA}"/>
              </a:ext>
            </a:extLst>
          </p:cNvPr>
          <p:cNvSpPr txBox="1"/>
          <p:nvPr/>
        </p:nvSpPr>
        <p:spPr>
          <a:xfrm>
            <a:off x="3632200" y="1866900"/>
            <a:ext cx="18923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750">
                <a:solidFill>
                  <a:srgbClr val="5B6770"/>
                </a:solidFill>
                <a:latin typeface="Arial" panose="020B0604020202020204" pitchFamily="34" charset="0"/>
              </a:rPr>
              <a:t>transient Photo-Dember and drift currents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72A9C90-382E-004F-9327-E86290152232}"/>
              </a:ext>
            </a:extLst>
          </p:cNvPr>
          <p:cNvSpPr/>
          <p:nvPr/>
        </p:nvSpPr>
        <p:spPr>
          <a:xfrm>
            <a:off x="6451600" y="1346200"/>
            <a:ext cx="2095500" cy="787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014E9D-26D6-70F5-9ABF-AF8A563D0B0F}"/>
              </a:ext>
            </a:extLst>
          </p:cNvPr>
          <p:cNvSpPr txBox="1"/>
          <p:nvPr/>
        </p:nvSpPr>
        <p:spPr>
          <a:xfrm>
            <a:off x="6553200" y="1460500"/>
            <a:ext cx="18923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50" b="1">
                <a:solidFill>
                  <a:srgbClr val="001B3A"/>
                </a:solidFill>
                <a:latin typeface="Arial" panose="020B0604020202020204" pitchFamily="34" charset="0"/>
              </a:rPr>
              <a:t>E(r,t)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971261-FD27-482E-0484-C87060B71827}"/>
              </a:ext>
            </a:extLst>
          </p:cNvPr>
          <p:cNvSpPr txBox="1"/>
          <p:nvPr/>
        </p:nvSpPr>
        <p:spPr>
          <a:xfrm>
            <a:off x="6553200" y="1866900"/>
            <a:ext cx="18923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750">
                <a:solidFill>
                  <a:srgbClr val="5B6770"/>
                </a:solidFill>
                <a:latin typeface="Arial" panose="020B0604020202020204" pitchFamily="34" charset="0"/>
              </a:rPr>
              <a:t>observable THz waveform and angular pattern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577872-D336-45AE-40E2-855080206723}"/>
              </a:ext>
            </a:extLst>
          </p:cNvPr>
          <p:cNvSpPr txBox="1"/>
          <p:nvPr/>
        </p:nvSpPr>
        <p:spPr>
          <a:xfrm>
            <a:off x="889000" y="2603500"/>
            <a:ext cx="7302500" cy="7284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GB" sz="1300">
                <a:solidFill>
                  <a:srgbClr val="1F2A35"/>
                </a:solidFill>
                <a:latin typeface="Arial" panose="020B0604020202020204" pitchFamily="34" charset="0"/>
              </a:rPr>
              <a:t>- Build a MATLAB model that computes THz electric fields from simulated current density histories.</a:t>
            </a:r>
          </a:p>
          <a:p>
            <a:pPr>
              <a:spcAft>
                <a:spcPts val="500"/>
              </a:spcAft>
            </a:pPr>
            <a:r>
              <a:rPr lang="en-GB" sz="1300">
                <a:solidFill>
                  <a:srgbClr val="1F2A35"/>
                </a:solidFill>
                <a:latin typeface="Arial" panose="020B0604020202020204" pitchFamily="34" charset="0"/>
              </a:rPr>
              <a:t>- Retain retarded time, transverse projection and 1/R radiation scaling.</a:t>
            </a:r>
          </a:p>
          <a:p>
            <a:pPr>
              <a:spcAft>
                <a:spcPts val="500"/>
              </a:spcAft>
            </a:pPr>
            <a:r>
              <a:rPr lang="en-GB" sz="1300">
                <a:solidFill>
                  <a:srgbClr val="1F2A35"/>
                </a:solidFill>
                <a:latin typeface="Arial" panose="020B0604020202020204" pitchFamily="34" charset="0"/>
              </a:rPr>
              <a:t>- Validate against the published off-axis emission lobe for Fe:InGaAs.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B95F069-E1BF-81F4-3909-83A6FB66DB42}"/>
              </a:ext>
            </a:extLst>
          </p:cNvPr>
          <p:cNvSpPr/>
          <p:nvPr/>
        </p:nvSpPr>
        <p:spPr>
          <a:xfrm>
            <a:off x="889000" y="3962400"/>
            <a:ext cx="1600200" cy="635000"/>
          </a:xfrm>
          <a:prstGeom prst="roundRect">
            <a:avLst/>
          </a:prstGeom>
          <a:solidFill>
            <a:srgbClr val="EEF5FB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CDDB1F-CE78-0813-B111-CA1949974204}"/>
              </a:ext>
            </a:extLst>
          </p:cNvPr>
          <p:cNvSpPr txBox="1"/>
          <p:nvPr/>
        </p:nvSpPr>
        <p:spPr>
          <a:xfrm>
            <a:off x="990600" y="40513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005EB8"/>
                </a:solidFill>
                <a:latin typeface="Arial" panose="020B0604020202020204" pitchFamily="34" charset="0"/>
              </a:rPr>
              <a:t>100 x 100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FF4C325-A64D-345E-0A51-3E164DA24D39}"/>
              </a:ext>
            </a:extLst>
          </p:cNvPr>
          <p:cNvSpPr txBox="1"/>
          <p:nvPr/>
        </p:nvSpPr>
        <p:spPr>
          <a:xfrm>
            <a:off x="990600" y="4305300"/>
            <a:ext cx="1397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50">
                <a:solidFill>
                  <a:srgbClr val="1F2A35"/>
                </a:solidFill>
                <a:latin typeface="Arial" panose="020B0604020202020204" pitchFamily="34" charset="0"/>
              </a:rPr>
              <a:t>typical source grid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0BB369A-DFC1-EC31-DE02-C489F628CD7A}"/>
              </a:ext>
            </a:extLst>
          </p:cNvPr>
          <p:cNvSpPr/>
          <p:nvPr/>
        </p:nvSpPr>
        <p:spPr>
          <a:xfrm>
            <a:off x="2794000" y="3962400"/>
            <a:ext cx="1600200" cy="635000"/>
          </a:xfrm>
          <a:prstGeom prst="roundRect">
            <a:avLst/>
          </a:prstGeom>
          <a:solidFill>
            <a:srgbClr val="EEF5FB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E253812-AB01-5CDE-02B4-20B7C78A4B7F}"/>
              </a:ext>
            </a:extLst>
          </p:cNvPr>
          <p:cNvSpPr txBox="1"/>
          <p:nvPr/>
        </p:nvSpPr>
        <p:spPr>
          <a:xfrm>
            <a:off x="2895600" y="40513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AC145A"/>
                </a:solidFill>
                <a:latin typeface="Arial" panose="020B0604020202020204" pitchFamily="34" charset="0"/>
              </a:rPr>
              <a:t>~800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2EBDAF-E3D8-821D-0270-18B1AA0713CC}"/>
              </a:ext>
            </a:extLst>
          </p:cNvPr>
          <p:cNvSpPr txBox="1"/>
          <p:nvPr/>
        </p:nvSpPr>
        <p:spPr>
          <a:xfrm>
            <a:off x="2895600" y="4305300"/>
            <a:ext cx="1397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50">
                <a:solidFill>
                  <a:srgbClr val="1F2A35"/>
                </a:solidFill>
                <a:latin typeface="Arial" panose="020B0604020202020204" pitchFamily="34" charset="0"/>
              </a:rPr>
              <a:t>time samples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2E5B00D-C1DD-D978-078C-45187A14C656}"/>
              </a:ext>
            </a:extLst>
          </p:cNvPr>
          <p:cNvSpPr/>
          <p:nvPr/>
        </p:nvSpPr>
        <p:spPr>
          <a:xfrm>
            <a:off x="4699000" y="3962400"/>
            <a:ext cx="1600200" cy="635000"/>
          </a:xfrm>
          <a:prstGeom prst="roundRect">
            <a:avLst/>
          </a:prstGeom>
          <a:solidFill>
            <a:srgbClr val="EEF5FB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1E785B5-2A37-9F73-B484-F28964A8E7EB}"/>
              </a:ext>
            </a:extLst>
          </p:cNvPr>
          <p:cNvSpPr txBox="1"/>
          <p:nvPr/>
        </p:nvSpPr>
        <p:spPr>
          <a:xfrm>
            <a:off x="4800600" y="40513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9BE28"/>
                </a:solidFill>
                <a:latin typeface="Arial" panose="020B0604020202020204" pitchFamily="34" charset="0"/>
              </a:rPr>
              <a:t>18-90 deg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2261F6-60DD-BBC1-DF06-93BD28D404F7}"/>
              </a:ext>
            </a:extLst>
          </p:cNvPr>
          <p:cNvSpPr txBox="1"/>
          <p:nvPr/>
        </p:nvSpPr>
        <p:spPr>
          <a:xfrm>
            <a:off x="4800600" y="4305300"/>
            <a:ext cx="1397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50">
                <a:solidFill>
                  <a:srgbClr val="1F2A35"/>
                </a:solidFill>
                <a:latin typeface="Arial" panose="020B0604020202020204" pitchFamily="34" charset="0"/>
              </a:rPr>
              <a:t>validation sweep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8424F8B-883F-DB3D-BDB2-724C5A9150F3}"/>
              </a:ext>
            </a:extLst>
          </p:cNvPr>
          <p:cNvSpPr/>
          <p:nvPr/>
        </p:nvSpPr>
        <p:spPr>
          <a:xfrm>
            <a:off x="6604000" y="3962400"/>
            <a:ext cx="1600200" cy="635000"/>
          </a:xfrm>
          <a:prstGeom prst="roundRect">
            <a:avLst/>
          </a:prstGeom>
          <a:solidFill>
            <a:srgbClr val="EEF5FB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29FB588-99DB-08E0-E311-960100BA3C16}"/>
              </a:ext>
            </a:extLst>
          </p:cNvPr>
          <p:cNvSpPr txBox="1"/>
          <p:nvPr/>
        </p:nvSpPr>
        <p:spPr>
          <a:xfrm>
            <a:off x="6705600" y="40513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F6A800"/>
                </a:solidFill>
                <a:latin typeface="Arial" panose="020B0604020202020204" pitchFamily="34" charset="0"/>
              </a:rPr>
              <a:t>seconds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9B39298-7CBF-EC5C-8C24-D66980C6F9F7}"/>
              </a:ext>
            </a:extLst>
          </p:cNvPr>
          <p:cNvSpPr txBox="1"/>
          <p:nvPr/>
        </p:nvSpPr>
        <p:spPr>
          <a:xfrm>
            <a:off x="6705600" y="4305300"/>
            <a:ext cx="1397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50">
                <a:solidFill>
                  <a:srgbClr val="1F2A35"/>
                </a:solidFill>
                <a:latin typeface="Arial" panose="020B0604020202020204" pitchFamily="34" charset="0"/>
              </a:rPr>
              <a:t>single waveform runtime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EB3FB3F-8945-C423-9846-64320EF93E83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3262E3A-B3B3-6DA4-C0E4-E19488354EE4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FD6826F-534D-7AD3-DA62-1035AFBC520A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Requirement alignment: clear problem, objectives and engineering-science motivation.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EA8675-69A6-7F08-FADF-6DF461A1793D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55874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0"/>
    </mc:Choice>
    <mc:Fallback xmlns="">
      <p:transition spd="slow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921500" cy="609600"/>
          </a:xfrm>
        </p:spPr>
        <p:txBody>
          <a:bodyPr>
            <a:normAutofit/>
          </a:bodyPr>
          <a:lstStyle/>
          <a:p>
            <a:r>
              <a:rPr lang="en-GB" sz="1550">
                <a:solidFill>
                  <a:srgbClr val="001B3A"/>
                </a:solidFill>
                <a:latin typeface="Arial" panose="020B0604020202020204" pitchFamily="34" charset="0"/>
              </a:rPr>
              <a:t>Only accelerating, transverse current contributes to the radiated THz field</a:t>
            </a:r>
            <a:endParaRPr lang="en-GB" sz="155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B2AFB4-C9A5-2A56-1243-29C7324C1B6C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462D6A-DEF2-68BE-9275-C21C9CBCDC0B}"/>
              </a:ext>
            </a:extLst>
          </p:cNvPr>
          <p:cNvCxnSpPr/>
          <p:nvPr/>
        </p:nvCxnSpPr>
        <p:spPr>
          <a:xfrm>
            <a:off x="635000" y="13081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4E67A4-30FE-DDEE-65B1-2459FFA6F9A4}"/>
              </a:ext>
            </a:extLst>
          </p:cNvPr>
          <p:cNvSpPr/>
          <p:nvPr/>
        </p:nvSpPr>
        <p:spPr>
          <a:xfrm>
            <a:off x="660400" y="1295400"/>
            <a:ext cx="3175000" cy="787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C170A-71FD-05FB-A009-2C73B739ABF5}"/>
              </a:ext>
            </a:extLst>
          </p:cNvPr>
          <p:cNvSpPr txBox="1"/>
          <p:nvPr/>
        </p:nvSpPr>
        <p:spPr>
          <a:xfrm>
            <a:off x="762000" y="1409700"/>
            <a:ext cx="2971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pt-BR" sz="1350" b="1">
                <a:solidFill>
                  <a:srgbClr val="001B3A"/>
                </a:solidFill>
                <a:latin typeface="Arial" panose="020B0604020202020204" pitchFamily="34" charset="0"/>
              </a:rPr>
              <a:t>dn/dt = D grad2(n) + G(r,t) - n/tau_r</a:t>
            </a:r>
            <a:endParaRPr lang="en-GB" sz="1350" b="1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E44FE8-B3F5-9FD1-36A1-C3B6129ABB62}"/>
              </a:ext>
            </a:extLst>
          </p:cNvPr>
          <p:cNvSpPr txBox="1"/>
          <p:nvPr/>
        </p:nvSpPr>
        <p:spPr>
          <a:xfrm>
            <a:off x="762000" y="1816100"/>
            <a:ext cx="29718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fr-FR" sz="750">
                <a:solidFill>
                  <a:srgbClr val="5B6770"/>
                </a:solidFill>
                <a:latin typeface="Arial" panose="020B0604020202020204" pitchFamily="34" charset="0"/>
              </a:rPr>
              <a:t>carrier diffusion and recombination produces n(x,y,t)</a:t>
            </a:r>
            <a:endParaRPr lang="en-GB" sz="750">
              <a:solidFill>
                <a:srgbClr val="5B6770"/>
              </a:solidFill>
              <a:latin typeface="Arial" panose="020B0604020202020204" pitchFamily="34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1C89FB7-B0C3-8FF2-5B43-6D1880219BD7}"/>
              </a:ext>
            </a:extLst>
          </p:cNvPr>
          <p:cNvSpPr/>
          <p:nvPr/>
        </p:nvSpPr>
        <p:spPr>
          <a:xfrm>
            <a:off x="660400" y="2324100"/>
            <a:ext cx="3175000" cy="787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4A176D-5A76-669D-5AB5-7F3F7A672715}"/>
              </a:ext>
            </a:extLst>
          </p:cNvPr>
          <p:cNvSpPr txBox="1"/>
          <p:nvPr/>
        </p:nvSpPr>
        <p:spPr>
          <a:xfrm>
            <a:off x="762000" y="2438400"/>
            <a:ext cx="2971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50" b="1">
                <a:solidFill>
                  <a:srgbClr val="001B3A"/>
                </a:solidFill>
                <a:latin typeface="Arial" panose="020B0604020202020204" pitchFamily="34" charset="0"/>
              </a:rPr>
              <a:t>Jx = -qD dn/dx,  Jy = -qD dn/dy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0AED3B-DE00-8A3A-21C7-701CCC0F5A15}"/>
              </a:ext>
            </a:extLst>
          </p:cNvPr>
          <p:cNvSpPr txBox="1"/>
          <p:nvPr/>
        </p:nvSpPr>
        <p:spPr>
          <a:xfrm>
            <a:off x="762000" y="2844800"/>
            <a:ext cx="29718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750">
                <a:solidFill>
                  <a:srgbClr val="5B6770"/>
                </a:solidFill>
                <a:latin typeface="Arial" panose="020B0604020202020204" pitchFamily="34" charset="0"/>
              </a:rPr>
              <a:t>Photo-Dember current from carrier-density gradients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B68FD10-65C7-643A-F4D0-42BD8FD523AD}"/>
              </a:ext>
            </a:extLst>
          </p:cNvPr>
          <p:cNvSpPr/>
          <p:nvPr/>
        </p:nvSpPr>
        <p:spPr>
          <a:xfrm>
            <a:off x="660400" y="3352800"/>
            <a:ext cx="3175000" cy="787400"/>
          </a:xfrm>
          <a:prstGeom prst="roundRect">
            <a:avLst/>
          </a:prstGeom>
          <a:solidFill>
            <a:srgbClr val="F7FAFC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730E8E-CD40-C912-2ECE-49CE8719932F}"/>
              </a:ext>
            </a:extLst>
          </p:cNvPr>
          <p:cNvSpPr txBox="1"/>
          <p:nvPr/>
        </p:nvSpPr>
        <p:spPr>
          <a:xfrm>
            <a:off x="762000" y="3467100"/>
            <a:ext cx="2971800" cy="20774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50" b="1">
                <a:solidFill>
                  <a:srgbClr val="001B3A"/>
                </a:solidFill>
                <a:latin typeface="Arial" panose="020B0604020202020204" pitchFamily="34" charset="0"/>
              </a:rPr>
              <a:t>tret = t - R/c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72D21C-A6BC-159E-9459-CF09F0B1C274}"/>
              </a:ext>
            </a:extLst>
          </p:cNvPr>
          <p:cNvSpPr txBox="1"/>
          <p:nvPr/>
        </p:nvSpPr>
        <p:spPr>
          <a:xfrm>
            <a:off x="762000" y="3873500"/>
            <a:ext cx="29718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750">
                <a:solidFill>
                  <a:srgbClr val="5B6770"/>
                </a:solidFill>
                <a:latin typeface="Arial" panose="020B0604020202020204" pitchFamily="34" charset="0"/>
              </a:rPr>
              <a:t>each source cell contributes at a delayed time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8B8035B-3F71-5B82-AC80-3C90CB617381}"/>
              </a:ext>
            </a:extLst>
          </p:cNvPr>
          <p:cNvSpPr/>
          <p:nvPr/>
        </p:nvSpPr>
        <p:spPr>
          <a:xfrm>
            <a:off x="4318000" y="1422400"/>
            <a:ext cx="4127500" cy="939800"/>
          </a:xfrm>
          <a:prstGeom prst="roundRect">
            <a:avLst/>
          </a:prstGeom>
          <a:solidFill>
            <a:srgbClr val="001B3A"/>
          </a:solidFill>
          <a:ln w="9525" cap="flat" cmpd="sng" algn="ctr">
            <a:solidFill>
              <a:srgbClr val="001B3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AE1B29-D1E9-793D-01E8-5A4D473C7398}"/>
              </a:ext>
            </a:extLst>
          </p:cNvPr>
          <p:cNvSpPr txBox="1"/>
          <p:nvPr/>
        </p:nvSpPr>
        <p:spPr>
          <a:xfrm>
            <a:off x="4495800" y="1778000"/>
            <a:ext cx="37465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50" b="1">
                <a:solidFill>
                  <a:srgbClr val="FFFFFF"/>
                </a:solidFill>
                <a:latin typeface="Arial" panose="020B0604020202020204" pitchFamily="34" charset="0"/>
              </a:rPr>
              <a:t>E(r,t) ~= mu0/4pi int int [Rhat x (Rhat x Jdot(r',tret))] / R dS'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48F7B3-5AEE-6D01-CC15-207E264F7170}"/>
              </a:ext>
            </a:extLst>
          </p:cNvPr>
          <p:cNvSpPr txBox="1"/>
          <p:nvPr/>
        </p:nvSpPr>
        <p:spPr>
          <a:xfrm>
            <a:off x="4572000" y="2768600"/>
            <a:ext cx="3619500" cy="106695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GB" sz="1220">
                <a:solidFill>
                  <a:srgbClr val="1F2A35"/>
                </a:solidFill>
                <a:latin typeface="Arial" panose="020B0604020202020204" pitchFamily="34" charset="0"/>
              </a:rPr>
              <a:t>- Jdot, not steady current, drives radiation.</a:t>
            </a:r>
          </a:p>
          <a:p>
            <a:pPr>
              <a:spcAft>
                <a:spcPts val="500"/>
              </a:spcAft>
            </a:pPr>
            <a:r>
              <a:rPr lang="en-GB" sz="1220">
                <a:solidFill>
                  <a:srgbClr val="1F2A35"/>
                </a:solidFill>
                <a:latin typeface="Arial" panose="020B0604020202020204" pitchFamily="34" charset="0"/>
              </a:rPr>
              <a:t>- The double cross-product removes field components parallel to the line of sight.</a:t>
            </a:r>
          </a:p>
          <a:p>
            <a:pPr>
              <a:spcAft>
                <a:spcPts val="500"/>
              </a:spcAft>
            </a:pPr>
            <a:r>
              <a:rPr lang="en-GB" sz="1220">
                <a:solidFill>
                  <a:srgbClr val="1F2A35"/>
                </a:solidFill>
                <a:latin typeface="Arial" panose="020B0604020202020204" pitchFamily="34" charset="0"/>
              </a:rPr>
              <a:t>- Retardation lets source geometry shape pulse arrival time and angular dependence.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FD1CF5E-E574-89FA-36FA-48C650D720C0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E3AE098-888A-BA21-BBF7-C21ACD995265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ECF2C71C-FD07-E353-A071-905C09EF944C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Theory basis: Jefimenko / retarded-potential far-field approximation.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6589AD-335B-8829-24D5-0BEEFF398E42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50151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77A52D-B702-B589-1C40-2676C57BBBC8}"/>
              </a:ext>
            </a:extLst>
          </p:cNvPr>
          <p:cNvSpPr/>
          <p:nvPr/>
        </p:nvSpPr>
        <p:spPr>
          <a:xfrm>
            <a:off x="609600" y="1473200"/>
            <a:ext cx="3810000" cy="2603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921500" cy="609600"/>
          </a:xfrm>
        </p:spPr>
        <p:txBody>
          <a:bodyPr>
            <a:normAutofit/>
          </a:bodyPr>
          <a:lstStyle/>
          <a:p>
            <a:r>
              <a:rPr lang="en-GB" sz="1550">
                <a:solidFill>
                  <a:srgbClr val="001B3A"/>
                </a:solidFill>
                <a:latin typeface="Arial" panose="020B0604020202020204" pitchFamily="34" charset="0"/>
              </a:rPr>
              <a:t>The implementation separates carrier transport, retarded projection and field accumulation</a:t>
            </a:r>
            <a:endParaRPr lang="en-GB" sz="155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1D36CCB-4C0E-81B3-BB26-7ED6D1164927}"/>
              </a:ext>
            </a:extLst>
          </p:cNvPr>
          <p:cNvCxnSpPr/>
          <p:nvPr/>
        </p:nvCxnSpPr>
        <p:spPr>
          <a:xfrm>
            <a:off x="635000" y="13081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EBA4609-B9E5-6666-EFC8-6EF4521FAD6E}"/>
              </a:ext>
            </a:extLst>
          </p:cNvPr>
          <p:cNvPicPr>
            <a:picLocks noGrp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73100" y="1754521"/>
            <a:ext cx="3683000" cy="1875761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EF2ABBB-00C2-1FBD-F302-F74BC347C5A1}"/>
              </a:ext>
            </a:extLst>
          </p:cNvPr>
          <p:cNvSpPr txBox="1"/>
          <p:nvPr/>
        </p:nvSpPr>
        <p:spPr>
          <a:xfrm>
            <a:off x="685800" y="3860800"/>
            <a:ext cx="36576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Three-stage far-field computation algorithm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A899E2-974A-B6C4-8EC9-4A7A4EF25B38}"/>
              </a:ext>
            </a:extLst>
          </p:cNvPr>
          <p:cNvSpPr txBox="1"/>
          <p:nvPr/>
        </p:nvSpPr>
        <p:spPr>
          <a:xfrm>
            <a:off x="4978400" y="1473200"/>
            <a:ext cx="2794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50" b="1">
                <a:solidFill>
                  <a:srgbClr val="001B3A"/>
                </a:solidFill>
                <a:latin typeface="Arial" panose="020B0604020202020204" pitchFamily="34" charset="0"/>
              </a:rPr>
              <a:t>Method decisions that matter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BB6F2B-74E7-CCB9-778E-F468A0278ECF}"/>
              </a:ext>
            </a:extLst>
          </p:cNvPr>
          <p:cNvSpPr txBox="1"/>
          <p:nvPr/>
        </p:nvSpPr>
        <p:spPr>
          <a:xfrm>
            <a:off x="4978400" y="1841500"/>
            <a:ext cx="3429000" cy="15096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GB" sz="1070">
                <a:solidFill>
                  <a:srgbClr val="1F2A35"/>
                </a:solidFill>
                <a:latin typeface="Arial" panose="020B0604020202020204" pitchFamily="34" charset="0"/>
              </a:rPr>
              <a:t>- Central finite difference estimates dJ/dt while leaving end points zero.</a:t>
            </a:r>
          </a:p>
          <a:p>
            <a:pPr>
              <a:spcAft>
                <a:spcPts val="500"/>
              </a:spcAft>
            </a:pPr>
            <a:r>
              <a:rPr lang="en-GB" sz="1070">
                <a:solidFill>
                  <a:srgbClr val="1F2A35"/>
                </a:solidFill>
                <a:latin typeface="Arial" panose="020B0604020202020204" pitchFamily="34" charset="0"/>
              </a:rPr>
              <a:t>- Retarded time is mapped to fractional array indices and linearly interpolated.</a:t>
            </a:r>
          </a:p>
          <a:p>
            <a:pPr>
              <a:spcAft>
                <a:spcPts val="500"/>
              </a:spcAft>
            </a:pPr>
            <a:r>
              <a:rPr lang="en-GB" sz="1070">
                <a:solidFill>
                  <a:srgbClr val="1F2A35"/>
                </a:solidFill>
                <a:latin typeface="Arial" panose="020B0604020202020204" pitchFamily="34" charset="0"/>
              </a:rPr>
              <a:t>- BAC-CAB identity evaluates transverse projection without nested cross-products.</a:t>
            </a:r>
          </a:p>
          <a:p>
            <a:pPr>
              <a:spcAft>
                <a:spcPts val="500"/>
              </a:spcAft>
            </a:pPr>
            <a:r>
              <a:rPr lang="en-GB" sz="1070">
                <a:solidFill>
                  <a:srgbClr val="1F2A35"/>
                </a:solidFill>
                <a:latin typeface="Arial" panose="020B0604020202020204" pitchFamily="34" charset="0"/>
              </a:rPr>
              <a:t>- Spatial operations are vectorised; the remaining loop is over observation time.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C899859-7A07-54BE-58A9-6B2499279884}"/>
              </a:ext>
            </a:extLst>
          </p:cNvPr>
          <p:cNvSpPr/>
          <p:nvPr/>
        </p:nvSpPr>
        <p:spPr>
          <a:xfrm>
            <a:off x="4978400" y="3581400"/>
            <a:ext cx="1600200" cy="635000"/>
          </a:xfrm>
          <a:prstGeom prst="roundRect">
            <a:avLst/>
          </a:prstGeom>
          <a:solidFill>
            <a:srgbClr val="EEF5FB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E6567F9-DEAF-480B-479C-B63EB984648D}"/>
              </a:ext>
            </a:extLst>
          </p:cNvPr>
          <p:cNvSpPr txBox="1"/>
          <p:nvPr/>
        </p:nvSpPr>
        <p:spPr>
          <a:xfrm>
            <a:off x="5080000" y="36703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AC145A"/>
                </a:solidFill>
                <a:latin typeface="Arial" panose="020B0604020202020204" pitchFamily="34" charset="0"/>
              </a:rPr>
              <a:t>O(Nx Ny Nt)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60FD11-4C51-4F77-5B1E-E28C91D8B98B}"/>
              </a:ext>
            </a:extLst>
          </p:cNvPr>
          <p:cNvSpPr txBox="1"/>
          <p:nvPr/>
        </p:nvSpPr>
        <p:spPr>
          <a:xfrm>
            <a:off x="5080000" y="3924300"/>
            <a:ext cx="1397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50">
                <a:solidFill>
                  <a:srgbClr val="1F2A35"/>
                </a:solidFill>
                <a:latin typeface="Arial" panose="020B0604020202020204" pitchFamily="34" charset="0"/>
              </a:rPr>
              <a:t>cost per observation point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86EEF9A-05F3-3E6D-BE53-0C9777E3ABB3}"/>
              </a:ext>
            </a:extLst>
          </p:cNvPr>
          <p:cNvSpPr/>
          <p:nvPr/>
        </p:nvSpPr>
        <p:spPr>
          <a:xfrm>
            <a:off x="6883400" y="3581400"/>
            <a:ext cx="1600200" cy="635000"/>
          </a:xfrm>
          <a:prstGeom prst="roundRect">
            <a:avLst/>
          </a:prstGeom>
          <a:solidFill>
            <a:srgbClr val="EEF5FB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F63BE6F-DB89-1BB7-7B69-2334A6B892EC}"/>
              </a:ext>
            </a:extLst>
          </p:cNvPr>
          <p:cNvSpPr txBox="1"/>
          <p:nvPr/>
        </p:nvSpPr>
        <p:spPr>
          <a:xfrm>
            <a:off x="6985000" y="36703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69BE28"/>
                </a:solidFill>
                <a:latin typeface="Arial" panose="020B0604020202020204" pitchFamily="34" charset="0"/>
              </a:rPr>
              <a:t>dx 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7E8C8B7-B953-3D54-16B1-E30622308727}"/>
              </a:ext>
            </a:extLst>
          </p:cNvPr>
          <p:cNvSpPr txBox="1"/>
          <p:nvPr/>
        </p:nvSpPr>
        <p:spPr>
          <a:xfrm>
            <a:off x="6985000" y="3924300"/>
            <a:ext cx="1397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50">
                <a:solidFill>
                  <a:srgbClr val="1F2A35"/>
                </a:solidFill>
                <a:latin typeface="Arial" panose="020B0604020202020204" pitchFamily="34" charset="0"/>
              </a:rPr>
              <a:t>surface integral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13A3614-67E7-01BD-EB5B-9177319D4C25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B9524E3-4EC0-B49F-F9BF-7FA71A11307A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B02479FC-6B1A-DD77-5189-E96CF1BADD5F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Code evidence: compute_THz_E_from_Jx.m and simulateTHzFromDiffusion.m.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821DAFC-7D30-133E-D338-BF2B247A9882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153467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DD38382-4026-E68B-4E24-7813DA0373ED}"/>
              </a:ext>
            </a:extLst>
          </p:cNvPr>
          <p:cNvSpPr/>
          <p:nvPr/>
        </p:nvSpPr>
        <p:spPr>
          <a:xfrm>
            <a:off x="4851400" y="1320800"/>
            <a:ext cx="3683000" cy="279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5061421-F9A7-A0C0-CCDF-2875A90337F9}"/>
              </a:ext>
            </a:extLst>
          </p:cNvPr>
          <p:cNvSpPr/>
          <p:nvPr/>
        </p:nvSpPr>
        <p:spPr>
          <a:xfrm>
            <a:off x="609600" y="1320800"/>
            <a:ext cx="3683000" cy="27940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921500" cy="609600"/>
          </a:xfrm>
        </p:spPr>
        <p:txBody>
          <a:bodyPr>
            <a:normAutofit/>
          </a:bodyPr>
          <a:lstStyle/>
          <a:p>
            <a:r>
              <a:rPr lang="en-GB" sz="1550">
                <a:solidFill>
                  <a:srgbClr val="001B3A"/>
                </a:solidFill>
                <a:latin typeface="Arial" panose="020B0604020202020204" pitchFamily="34" charset="0"/>
              </a:rPr>
              <a:t>The source model captures both in-plane diffusion and normal built-in-field drift</a:t>
            </a:r>
            <a:endParaRPr lang="en-GB" sz="155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A42C86-8AE4-688C-E338-A03542D4EB1A}"/>
              </a:ext>
            </a:extLst>
          </p:cNvPr>
          <p:cNvCxnSpPr/>
          <p:nvPr/>
        </p:nvCxnSpPr>
        <p:spPr>
          <a:xfrm>
            <a:off x="635000" y="13081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DA5439A-F583-23D5-ED9A-55E68A794F1A}"/>
              </a:ext>
            </a:extLst>
          </p:cNvPr>
          <p:cNvPicPr>
            <a:picLocks noGrp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927771" y="1397000"/>
            <a:ext cx="3046661" cy="24765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FFE603B-5F8F-BFBC-1B9F-3AD76CA7C0D8}"/>
              </a:ext>
            </a:extLst>
          </p:cNvPr>
          <p:cNvSpPr txBox="1"/>
          <p:nvPr/>
        </p:nvSpPr>
        <p:spPr>
          <a:xfrm>
            <a:off x="685800" y="3898900"/>
            <a:ext cx="35306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Snapshot of |dJ/dt| with optical excitation profile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DD03F1-F471-814C-71C6-854D7AE3C645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449725" y="1397000"/>
            <a:ext cx="2486351" cy="24765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C3E4AE2-6D89-0857-891B-73C6415A865F}"/>
              </a:ext>
            </a:extLst>
          </p:cNvPr>
          <p:cNvSpPr txBox="1"/>
          <p:nvPr/>
        </p:nvSpPr>
        <p:spPr>
          <a:xfrm>
            <a:off x="4927600" y="3898900"/>
            <a:ext cx="35306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2D transverse electric-field vector map near peak response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93B329-C66E-9296-C8D0-A862F7B13273}"/>
              </a:ext>
            </a:extLst>
          </p:cNvPr>
          <p:cNvSpPr txBox="1"/>
          <p:nvPr/>
        </p:nvSpPr>
        <p:spPr>
          <a:xfrm>
            <a:off x="889000" y="4343400"/>
            <a:ext cx="7366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50" b="1">
                <a:solidFill>
                  <a:srgbClr val="001B3A"/>
                </a:solidFill>
                <a:latin typeface="Arial" panose="020B0604020202020204" pitchFamily="34" charset="0"/>
              </a:rPr>
              <a:t>The MATLAB model can toggle Photo-Dember and built-in-field contributions, making the physical mechanism testable rather than just descriptive.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3F0518-5133-D0A1-4FCE-AA6CB8B7467D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0138A8E-16EA-414C-570D-73B96FAF49B1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D8B705B-5DB0-8A2F-1051-7FF920BCF5FA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Project implementation: simulateTHzFromDiffusion.m builds Jx, Jy and Jz histories.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B8622-873F-D60C-D806-F0CEAB110B77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55664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6724234-6E78-18D1-5A8D-67CB2CDC816D}"/>
              </a:ext>
            </a:extLst>
          </p:cNvPr>
          <p:cNvSpPr/>
          <p:nvPr/>
        </p:nvSpPr>
        <p:spPr>
          <a:xfrm>
            <a:off x="6096000" y="1244600"/>
            <a:ext cx="2489200" cy="1803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40081A1-6CB1-0045-417D-1169B8C00D8B}"/>
              </a:ext>
            </a:extLst>
          </p:cNvPr>
          <p:cNvSpPr/>
          <p:nvPr/>
        </p:nvSpPr>
        <p:spPr>
          <a:xfrm>
            <a:off x="3327400" y="1244600"/>
            <a:ext cx="2489200" cy="1803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12DEB2-6684-FD5D-6F15-057406EA9472}"/>
              </a:ext>
            </a:extLst>
          </p:cNvPr>
          <p:cNvSpPr/>
          <p:nvPr/>
        </p:nvSpPr>
        <p:spPr>
          <a:xfrm>
            <a:off x="558800" y="1244600"/>
            <a:ext cx="2489200" cy="18034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921500" cy="609600"/>
          </a:xfrm>
        </p:spPr>
        <p:txBody>
          <a:bodyPr>
            <a:normAutofit/>
          </a:bodyPr>
          <a:lstStyle/>
          <a:p>
            <a:r>
              <a:rPr lang="en-GB" sz="1550">
                <a:solidFill>
                  <a:srgbClr val="001B3A"/>
                </a:solidFill>
                <a:latin typeface="Arial" panose="020B0604020202020204" pitchFamily="34" charset="0"/>
              </a:rPr>
              <a:t>Computed waveforms are short THz pulses whose sign and amplitude depend on current mechanism</a:t>
            </a:r>
            <a:endParaRPr lang="en-GB" sz="155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E2EEADE-EC8D-970C-0042-731616563880}"/>
              </a:ext>
            </a:extLst>
          </p:cNvPr>
          <p:cNvCxnSpPr/>
          <p:nvPr/>
        </p:nvCxnSpPr>
        <p:spPr>
          <a:xfrm>
            <a:off x="635000" y="13081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6CB278D-6E7E-7B23-B090-99AF24B98450}"/>
              </a:ext>
            </a:extLst>
          </p:cNvPr>
          <p:cNvPicPr>
            <a:picLocks noGrp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1019284" y="1320800"/>
            <a:ext cx="1568232" cy="14859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8DD567-4963-1EEA-450F-AB616DB200EA}"/>
              </a:ext>
            </a:extLst>
          </p:cNvPr>
          <p:cNvSpPr txBox="1"/>
          <p:nvPr/>
        </p:nvSpPr>
        <p:spPr>
          <a:xfrm>
            <a:off x="635000" y="2832100"/>
            <a:ext cx="23368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Photo-Dember-only Ex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F0A18AF-5BAE-6730-EF36-B9FC454ED811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3787884" y="1320800"/>
            <a:ext cx="1568232" cy="14859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6646ED-8FE7-5A92-0A31-AEDA36086C2F}"/>
              </a:ext>
            </a:extLst>
          </p:cNvPr>
          <p:cNvSpPr txBox="1"/>
          <p:nvPr/>
        </p:nvSpPr>
        <p:spPr>
          <a:xfrm>
            <a:off x="3403600" y="2832100"/>
            <a:ext cx="23368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Custom Photo-Dember Ex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46CCAD-E1C1-63FF-040A-07A61235189C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552564" y="1320800"/>
            <a:ext cx="1576073" cy="14859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6F76C9C-429E-3F4B-5DE2-26C30D622E7C}"/>
              </a:ext>
            </a:extLst>
          </p:cNvPr>
          <p:cNvSpPr txBox="1"/>
          <p:nvPr/>
        </p:nvSpPr>
        <p:spPr>
          <a:xfrm>
            <a:off x="6172200" y="2832100"/>
            <a:ext cx="23368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Orthogonal Ey component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68F22CE-A26A-D443-52CF-ADCEEBDEF650}"/>
              </a:ext>
            </a:extLst>
          </p:cNvPr>
          <p:cNvSpPr/>
          <p:nvPr/>
        </p:nvSpPr>
        <p:spPr>
          <a:xfrm>
            <a:off x="863600" y="3492500"/>
            <a:ext cx="7416800" cy="698500"/>
          </a:xfrm>
          <a:prstGeom prst="roundRect">
            <a:avLst/>
          </a:prstGeom>
          <a:solidFill>
            <a:srgbClr val="EEF5FB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F1EB42-D179-F059-9154-E91496E38399}"/>
              </a:ext>
            </a:extLst>
          </p:cNvPr>
          <p:cNvSpPr txBox="1"/>
          <p:nvPr/>
        </p:nvSpPr>
        <p:spPr>
          <a:xfrm>
            <a:off x="1117600" y="3657600"/>
            <a:ext cx="6921500" cy="6591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GB" sz="1150">
                <a:solidFill>
                  <a:srgbClr val="1F2A35"/>
                </a:solidFill>
                <a:latin typeface="Arial" panose="020B0604020202020204" pitchFamily="34" charset="0"/>
              </a:rPr>
              <a:t>- The pulses are sub-picosecond scale in shape after propagation delay.</a:t>
            </a:r>
          </a:p>
          <a:p>
            <a:pPr>
              <a:spcAft>
                <a:spcPts val="500"/>
              </a:spcAft>
            </a:pPr>
            <a:r>
              <a:rPr lang="en-GB" sz="1150">
                <a:solidFill>
                  <a:srgbClr val="1F2A35"/>
                </a:solidFill>
                <a:latin typeface="Arial" panose="020B0604020202020204" pitchFamily="34" charset="0"/>
              </a:rPr>
              <a:t>- Field polarity follows the sign of dJ/dt after transverse projection.</a:t>
            </a:r>
          </a:p>
          <a:p>
            <a:pPr>
              <a:spcAft>
                <a:spcPts val="500"/>
              </a:spcAft>
            </a:pPr>
            <a:r>
              <a:rPr lang="en-GB" sz="1150">
                <a:solidFill>
                  <a:srgbClr val="1F2A35"/>
                </a:solidFill>
                <a:latin typeface="Arial" panose="020B0604020202020204" pitchFamily="34" charset="0"/>
              </a:rPr>
              <a:t>- Comparing Ex and Ey checks the vector nature of the radiation calculation.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29CDC57-EA6C-E724-43BD-6015D88D39B6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B0AFD3D-110C-DEA6-4A8B-6512B4982F25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4E14E47-F135-AAE2-440B-0B4F76B9F682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Figures generated by MATLAB scripts from the project code; units shown on original axes.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EDF2B9-217E-BDD1-DD8C-0BD1E15E7445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59771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E3CA610-190C-0013-AB66-FDB06ADECB12}"/>
              </a:ext>
            </a:extLst>
          </p:cNvPr>
          <p:cNvSpPr/>
          <p:nvPr/>
        </p:nvSpPr>
        <p:spPr>
          <a:xfrm>
            <a:off x="4851400" y="1320800"/>
            <a:ext cx="3708400" cy="2857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FE9FA9F-30F9-044C-42E6-7E669FB0CEFE}"/>
              </a:ext>
            </a:extLst>
          </p:cNvPr>
          <p:cNvSpPr/>
          <p:nvPr/>
        </p:nvSpPr>
        <p:spPr>
          <a:xfrm>
            <a:off x="609600" y="1320800"/>
            <a:ext cx="3708400" cy="2857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921500" cy="609600"/>
          </a:xfrm>
        </p:spPr>
        <p:txBody>
          <a:bodyPr>
            <a:normAutofit/>
          </a:bodyPr>
          <a:lstStyle/>
          <a:p>
            <a:r>
              <a:rPr lang="en-GB" sz="1550">
                <a:solidFill>
                  <a:srgbClr val="001B3A"/>
                </a:solidFill>
                <a:latin typeface="Arial" panose="020B0604020202020204" pitchFamily="34" charset="0"/>
              </a:rPr>
              <a:t>Off-axis observation breaks symmetry and creates a measurable emission lobe</a:t>
            </a:r>
            <a:endParaRPr lang="en-GB" sz="155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56D1304-2F94-0F0E-4E86-66D1FF8044E6}"/>
              </a:ext>
            </a:extLst>
          </p:cNvPr>
          <p:cNvCxnSpPr/>
          <p:nvPr/>
        </p:nvCxnSpPr>
        <p:spPr>
          <a:xfrm>
            <a:off x="635000" y="13081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AD39742-706A-04F0-2AD7-038D48BE85EC}"/>
              </a:ext>
            </a:extLst>
          </p:cNvPr>
          <p:cNvPicPr>
            <a:picLocks noGrp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1153917" y="1397000"/>
            <a:ext cx="2619769" cy="25400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29EF93F-9CA4-C48E-EFE7-DE4793300D01}"/>
              </a:ext>
            </a:extLst>
          </p:cNvPr>
          <p:cNvSpPr txBox="1"/>
          <p:nvPr/>
        </p:nvSpPr>
        <p:spPr>
          <a:xfrm>
            <a:off x="685800" y="3962400"/>
            <a:ext cx="35560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Retarded source-to-observer geometry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37316B6-5DD7-468D-08AE-9889003526F6}"/>
              </a:ext>
            </a:extLst>
          </p:cNvPr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5139998" y="1397000"/>
            <a:ext cx="3131207" cy="2540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11A3D11-31B4-CE19-9184-0C6D84891F4B}"/>
              </a:ext>
            </a:extLst>
          </p:cNvPr>
          <p:cNvSpPr txBox="1"/>
          <p:nvPr/>
        </p:nvSpPr>
        <p:spPr>
          <a:xfrm>
            <a:off x="4927600" y="3962400"/>
            <a:ext cx="35560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Waveform shift and amplitude changes with angle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CE4A06-A627-BEB0-6213-C7F98D80BF03}"/>
              </a:ext>
            </a:extLst>
          </p:cNvPr>
          <p:cNvSpPr txBox="1"/>
          <p:nvPr/>
        </p:nvSpPr>
        <p:spPr>
          <a:xfrm>
            <a:off x="787400" y="4343400"/>
            <a:ext cx="7556500" cy="3754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20" b="1">
                <a:solidFill>
                  <a:srgbClr val="001B3A"/>
                </a:solidFill>
                <a:latin typeface="Arial" panose="020B0604020202020204" pitchFamily="34" charset="0"/>
              </a:rPr>
              <a:t>Physical interpretation: on-axis transverse components cancel for a radially symmetric in-plane current; off-axis viewing leaves a net transverse field.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F869436-5E20-8EE0-5C2C-71413A71E841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3004CE0-9A22-A7C3-7C4F-90A2009E641F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7FDE522F-7459-8F2D-EC5F-0744F0050082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Project report: angular sweep configured from 18 degrees to 90 degrees.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31FCBD-7049-91D8-8C1F-80EA6167F6D5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750485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0ED9532B-4776-32E2-DF2D-E48F4DEA8D65}"/>
              </a:ext>
            </a:extLst>
          </p:cNvPr>
          <p:cNvSpPr/>
          <p:nvPr/>
        </p:nvSpPr>
        <p:spPr>
          <a:xfrm>
            <a:off x="736600" y="1320800"/>
            <a:ext cx="3810000" cy="3111500"/>
          </a:xfrm>
          <a:prstGeom prst="roundRect">
            <a:avLst/>
          </a:prstGeom>
          <a:solidFill>
            <a:srgbClr val="FFFFFF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921500" cy="609600"/>
          </a:xfrm>
        </p:spPr>
        <p:txBody>
          <a:bodyPr>
            <a:normAutofit/>
          </a:bodyPr>
          <a:lstStyle/>
          <a:p>
            <a:r>
              <a:rPr lang="en-GB" sz="1550">
                <a:solidFill>
                  <a:srgbClr val="001B3A"/>
                </a:solidFill>
                <a:latin typeface="Arial" panose="020B0604020202020204" pitchFamily="34" charset="0"/>
              </a:rPr>
              <a:t>The simulation reproduces the published lobe: peak emission occurs around 25 degrees</a:t>
            </a:r>
            <a:endParaRPr lang="en-GB" sz="155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7C57822-8D63-7BAA-8ECD-98F113C1F32B}"/>
              </a:ext>
            </a:extLst>
          </p:cNvPr>
          <p:cNvCxnSpPr/>
          <p:nvPr/>
        </p:nvCxnSpPr>
        <p:spPr>
          <a:xfrm>
            <a:off x="635000" y="13081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AC76481E-9E37-B40D-4FF9-5579FAB8AB39}"/>
              </a:ext>
            </a:extLst>
          </p:cNvPr>
          <p:cNvPicPr>
            <a:picLocks noGrp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928112" y="1397000"/>
            <a:ext cx="3426977" cy="2794000"/>
          </a:xfr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7E2F1C8-E342-938F-BC4E-A64E436AE5D1}"/>
              </a:ext>
            </a:extLst>
          </p:cNvPr>
          <p:cNvSpPr txBox="1"/>
          <p:nvPr/>
        </p:nvSpPr>
        <p:spPr>
          <a:xfrm>
            <a:off x="812800" y="4216400"/>
            <a:ext cx="3657600" cy="1031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670">
                <a:solidFill>
                  <a:srgbClr val="5B6770"/>
                </a:solidFill>
                <a:latin typeface="Arial" panose="020B0604020202020204" pitchFamily="34" charset="0"/>
              </a:rPr>
              <a:t>Normalised peak-to-peak amplitude versus emission angle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5CEAE7-B1AF-E295-62F8-0EAA8D079A26}"/>
              </a:ext>
            </a:extLst>
          </p:cNvPr>
          <p:cNvSpPr txBox="1"/>
          <p:nvPr/>
        </p:nvSpPr>
        <p:spPr>
          <a:xfrm>
            <a:off x="5181600" y="1371600"/>
            <a:ext cx="2159000" cy="19236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50" b="1">
                <a:solidFill>
                  <a:srgbClr val="005EB8"/>
                </a:solidFill>
                <a:latin typeface="Arial" panose="020B0604020202020204" pitchFamily="34" charset="0"/>
              </a:rPr>
              <a:t>Validation evidence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E0591E-9713-7BA9-337F-2AF2B781B329}"/>
              </a:ext>
            </a:extLst>
          </p:cNvPr>
          <p:cNvSpPr txBox="1"/>
          <p:nvPr/>
        </p:nvSpPr>
        <p:spPr>
          <a:xfrm>
            <a:off x="5181600" y="1752600"/>
            <a:ext cx="3365500" cy="158351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GB" sz="1130">
                <a:solidFill>
                  <a:srgbClr val="1F2A35"/>
                </a:solidFill>
                <a:latin typeface="Arial" panose="020B0604020202020204" pitchFamily="34" charset="0"/>
              </a:rPr>
              <a:t>- Peak-to-peak amplitude is normalised to the maximum simulated value.</a:t>
            </a:r>
          </a:p>
          <a:p>
            <a:pPr>
              <a:spcAft>
                <a:spcPts val="500"/>
              </a:spcAft>
            </a:pPr>
            <a:r>
              <a:rPr lang="en-GB" sz="1130">
                <a:solidFill>
                  <a:srgbClr val="1F2A35"/>
                </a:solidFill>
                <a:latin typeface="Arial" panose="020B0604020202020204" pitchFamily="34" charset="0"/>
              </a:rPr>
              <a:t>- The maximum appears near 25 degrees, consistent with the reported 20-30 degree lobe.</a:t>
            </a:r>
          </a:p>
          <a:p>
            <a:pPr>
              <a:spcAft>
                <a:spcPts val="500"/>
              </a:spcAft>
            </a:pPr>
            <a:r>
              <a:rPr lang="en-GB" sz="1130">
                <a:solidFill>
                  <a:srgbClr val="1F2A35"/>
                </a:solidFill>
                <a:latin typeface="Arial" panose="020B0604020202020204" pitchFamily="34" charset="0"/>
              </a:rPr>
              <a:t>- Amplitude decreases toward 90 degrees, matching grazing-angle suppression.</a:t>
            </a:r>
          </a:p>
          <a:p>
            <a:pPr>
              <a:spcAft>
                <a:spcPts val="500"/>
              </a:spcAft>
            </a:pPr>
            <a:r>
              <a:rPr lang="en-GB" sz="1130">
                <a:solidFill>
                  <a:srgbClr val="1F2A35"/>
                </a:solidFill>
                <a:latin typeface="Arial" panose="020B0604020202020204" pitchFamily="34" charset="0"/>
              </a:rPr>
              <a:t>- This validates the retarded projection and carrier-current pipeline at pattern level.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FF3995F-00F6-B1CA-857F-8D0E39F4DE42}"/>
              </a:ext>
            </a:extLst>
          </p:cNvPr>
          <p:cNvSpPr/>
          <p:nvPr/>
        </p:nvSpPr>
        <p:spPr>
          <a:xfrm>
            <a:off x="5207000" y="3632200"/>
            <a:ext cx="1600200" cy="635000"/>
          </a:xfrm>
          <a:prstGeom prst="roundRect">
            <a:avLst/>
          </a:prstGeom>
          <a:solidFill>
            <a:srgbClr val="EEF5FB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2627E8-81CD-B0BD-65A8-4DE16BDC9744}"/>
              </a:ext>
            </a:extLst>
          </p:cNvPr>
          <p:cNvSpPr txBox="1"/>
          <p:nvPr/>
        </p:nvSpPr>
        <p:spPr>
          <a:xfrm>
            <a:off x="5308600" y="37211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F6A800"/>
                </a:solidFill>
                <a:latin typeface="Arial" panose="020B0604020202020204" pitchFamily="34" charset="0"/>
              </a:rPr>
              <a:t>25 deg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958236-F729-456A-1365-E6C347D5CEA4}"/>
              </a:ext>
            </a:extLst>
          </p:cNvPr>
          <p:cNvSpPr txBox="1"/>
          <p:nvPr/>
        </p:nvSpPr>
        <p:spPr>
          <a:xfrm>
            <a:off x="5308600" y="3975100"/>
            <a:ext cx="1397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50">
                <a:solidFill>
                  <a:srgbClr val="1F2A35"/>
                </a:solidFill>
                <a:latin typeface="Arial" panose="020B0604020202020204" pitchFamily="34" charset="0"/>
              </a:rPr>
              <a:t>simulated peak angle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84BEB49-635C-657E-C49F-085BB48C3866}"/>
              </a:ext>
            </a:extLst>
          </p:cNvPr>
          <p:cNvSpPr/>
          <p:nvPr/>
        </p:nvSpPr>
        <p:spPr>
          <a:xfrm>
            <a:off x="7112000" y="3632200"/>
            <a:ext cx="1600200" cy="635000"/>
          </a:xfrm>
          <a:prstGeom prst="roundRect">
            <a:avLst/>
          </a:prstGeom>
          <a:solidFill>
            <a:srgbClr val="EEF5FB"/>
          </a:solidFill>
          <a:ln w="9525" cap="flat" cmpd="sng" algn="ctr">
            <a:solidFill>
              <a:srgbClr val="D9E2EC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C2C65FB-55AC-F568-EB78-A9DB65C5EA91}"/>
              </a:ext>
            </a:extLst>
          </p:cNvPr>
          <p:cNvSpPr txBox="1"/>
          <p:nvPr/>
        </p:nvSpPr>
        <p:spPr>
          <a:xfrm>
            <a:off x="7213600" y="3721100"/>
            <a:ext cx="13970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400" b="1">
                <a:solidFill>
                  <a:srgbClr val="AC145A"/>
                </a:solidFill>
                <a:latin typeface="Arial" panose="020B0604020202020204" pitchFamily="34" charset="0"/>
              </a:rPr>
              <a:t>0.0001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CF70D6-A350-A238-A9C0-9B2CB8CF1F74}"/>
              </a:ext>
            </a:extLst>
          </p:cNvPr>
          <p:cNvSpPr txBox="1"/>
          <p:nvPr/>
        </p:nvSpPr>
        <p:spPr>
          <a:xfrm>
            <a:off x="7213600" y="3975100"/>
            <a:ext cx="1397000" cy="11541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50">
                <a:solidFill>
                  <a:srgbClr val="1F2A35"/>
                </a:solidFill>
                <a:latin typeface="Arial" panose="020B0604020202020204" pitchFamily="34" charset="0"/>
              </a:rPr>
              <a:t>normalised amplitude at 90 deg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ADC516-74BD-8B56-66BA-44CD4E309FC5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6AF5525-DA8A-0CAF-E79D-27F2139E14D2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B13E16A-BFAE-FB8E-9B27-FD677072CDFA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Validation target: Mueckstein et al. Fig. 8(b); reproduced using result.m angle sweep.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FE8AA5-1377-AF6F-ADD8-7AB11BBBEB73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3761617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921500" cy="609600"/>
          </a:xfrm>
        </p:spPr>
        <p:txBody>
          <a:bodyPr>
            <a:normAutofit/>
          </a:bodyPr>
          <a:lstStyle/>
          <a:p>
            <a:r>
              <a:rPr lang="en-GB" sz="1550">
                <a:solidFill>
                  <a:srgbClr val="001B3A"/>
                </a:solidFill>
                <a:latin typeface="Arial" panose="020B0604020202020204" pitchFamily="34" charset="0"/>
              </a:rPr>
              <a:t>The model is useful, but validation is strongest for angular shape rather than absolute power</a:t>
            </a:r>
            <a:endParaRPr lang="en-GB" sz="155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02C015-C290-081E-F0FE-A58DFDE8E19F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9E05BD-0916-EAAA-4D9C-98343F12A573}"/>
              </a:ext>
            </a:extLst>
          </p:cNvPr>
          <p:cNvCxnSpPr/>
          <p:nvPr/>
        </p:nvCxnSpPr>
        <p:spPr>
          <a:xfrm>
            <a:off x="635000" y="13081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5E09055-61DE-46E2-3229-AB0D4A189D30}"/>
              </a:ext>
            </a:extLst>
          </p:cNvPr>
          <p:cNvSpPr/>
          <p:nvPr/>
        </p:nvSpPr>
        <p:spPr>
          <a:xfrm>
            <a:off x="736600" y="1371600"/>
            <a:ext cx="1371600" cy="279400"/>
          </a:xfrm>
          <a:prstGeom prst="roundRect">
            <a:avLst/>
          </a:prstGeom>
          <a:solidFill>
            <a:srgbClr val="69BE2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Arial" panose="020B0604020202020204" pitchFamily="34" charset="0"/>
              </a:rPr>
              <a:t>Strengths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A480A-EE3C-7B3F-4F23-ED33FDE46888}"/>
              </a:ext>
            </a:extLst>
          </p:cNvPr>
          <p:cNvSpPr txBox="1"/>
          <p:nvPr/>
        </p:nvSpPr>
        <p:spPr>
          <a:xfrm>
            <a:off x="863600" y="1841500"/>
            <a:ext cx="3556000" cy="11900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GB" sz="1150">
                <a:solidFill>
                  <a:srgbClr val="1F2A35"/>
                </a:solidFill>
                <a:latin typeface="Arial" panose="020B0604020202020204" pitchFamily="34" charset="0"/>
              </a:rPr>
              <a:t>- Keeps causal propagation through retarded-time interpolation.</a:t>
            </a:r>
          </a:p>
          <a:p>
            <a:pPr>
              <a:spcAft>
                <a:spcPts val="500"/>
              </a:spcAft>
            </a:pPr>
            <a:r>
              <a:rPr lang="en-GB" sz="1150">
                <a:solidFill>
                  <a:srgbClr val="1F2A35"/>
                </a:solidFill>
                <a:latin typeface="Arial" panose="020B0604020202020204" pitchFamily="34" charset="0"/>
              </a:rPr>
              <a:t>- Uses vector fields, so polarisation and viewing angle are part of the output.</a:t>
            </a:r>
          </a:p>
          <a:p>
            <a:pPr>
              <a:spcAft>
                <a:spcPts val="500"/>
              </a:spcAft>
            </a:pPr>
            <a:r>
              <a:rPr lang="en-GB" sz="1150">
                <a:solidFill>
                  <a:srgbClr val="1F2A35"/>
                </a:solidFill>
                <a:latin typeface="Arial" panose="020B0604020202020204" pitchFamily="34" charset="0"/>
              </a:rPr>
              <a:t>- Separates physical mechanisms for controlled comparison of source currents.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B09810-B973-1C1E-BBBF-01B66B6CEC1B}"/>
              </a:ext>
            </a:extLst>
          </p:cNvPr>
          <p:cNvSpPr/>
          <p:nvPr/>
        </p:nvSpPr>
        <p:spPr>
          <a:xfrm>
            <a:off x="4851400" y="1371600"/>
            <a:ext cx="1371600" cy="279400"/>
          </a:xfrm>
          <a:prstGeom prst="roundRect">
            <a:avLst/>
          </a:prstGeom>
          <a:solidFill>
            <a:srgbClr val="AC145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Arial" panose="020B0604020202020204" pitchFamily="34" charset="0"/>
              </a:rPr>
              <a:t>Limitations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6C7F85-F028-E0FA-4A67-A30C6079F723}"/>
              </a:ext>
            </a:extLst>
          </p:cNvPr>
          <p:cNvSpPr txBox="1"/>
          <p:nvPr/>
        </p:nvSpPr>
        <p:spPr>
          <a:xfrm>
            <a:off x="4978400" y="1841500"/>
            <a:ext cx="3556000" cy="119006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GB" sz="1150">
                <a:solidFill>
                  <a:srgbClr val="1F2A35"/>
                </a:solidFill>
                <a:latin typeface="Arial" panose="020B0604020202020204" pitchFamily="34" charset="0"/>
              </a:rPr>
              <a:t>- Carrier transport is simplified versus full Monte Carlo or microscopic models.</a:t>
            </a:r>
          </a:p>
          <a:p>
            <a:pPr>
              <a:spcAft>
                <a:spcPts val="500"/>
              </a:spcAft>
            </a:pPr>
            <a:r>
              <a:rPr lang="en-GB" sz="1150">
                <a:solidFill>
                  <a:srgbClr val="1F2A35"/>
                </a:solidFill>
                <a:latin typeface="Arial" panose="020B0604020202020204" pitchFamily="34" charset="0"/>
              </a:rPr>
              <a:t>- Far-field approximation suppresses near-field and detector-response effects.</a:t>
            </a:r>
          </a:p>
          <a:p>
            <a:pPr>
              <a:spcAft>
                <a:spcPts val="500"/>
              </a:spcAft>
            </a:pPr>
            <a:r>
              <a:rPr lang="en-GB" sz="1150">
                <a:solidFill>
                  <a:srgbClr val="1F2A35"/>
                </a:solidFill>
                <a:latin typeface="Arial" panose="020B0604020202020204" pitchFamily="34" charset="0"/>
              </a:rPr>
              <a:t>- Validation uses normalised angular amplitude, not calibrated absolute THz power.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56657E2-AB4E-05C1-7F6E-94BA6323B154}"/>
              </a:ext>
            </a:extLst>
          </p:cNvPr>
          <p:cNvSpPr/>
          <p:nvPr/>
        </p:nvSpPr>
        <p:spPr>
          <a:xfrm>
            <a:off x="736600" y="3429000"/>
            <a:ext cx="1371600" cy="279400"/>
          </a:xfrm>
          <a:prstGeom prst="round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Arial" panose="020B0604020202020204" pitchFamily="34" charset="0"/>
              </a:rPr>
              <a:t>What this means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D5A1A6-4A4D-99D0-A32A-14944EDE6FF0}"/>
              </a:ext>
            </a:extLst>
          </p:cNvPr>
          <p:cNvSpPr txBox="1"/>
          <p:nvPr/>
        </p:nvSpPr>
        <p:spPr>
          <a:xfrm>
            <a:off x="889000" y="3937000"/>
            <a:ext cx="7366000" cy="6463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400" b="1">
                <a:solidFill>
                  <a:srgbClr val="001B3A"/>
                </a:solidFill>
                <a:latin typeface="Arial" panose="020B0604020202020204" pitchFamily="34" charset="0"/>
              </a:rPr>
              <a:t>The project demonstrates a credible computational framework; the next engineering step is quantitative calibration against measured waveforms and systematic sensitivity analysis.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03B9352-7816-7277-7660-959FDCC67A78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C7E216F-44FE-BCAA-7887-5E61942D2457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938B5B3-9458-B4BE-990E-1196DC9AB015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Mark-scheme alignment: critical analysis of results, not only description of generated plots.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CA0C8C-47E9-AB41-CA82-B6201AE1311D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913378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E0185D-7418-4EF7-BE52-7B4AD0E6A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000" y="635000"/>
            <a:ext cx="6921500" cy="609600"/>
          </a:xfrm>
        </p:spPr>
        <p:txBody>
          <a:bodyPr>
            <a:normAutofit/>
          </a:bodyPr>
          <a:lstStyle/>
          <a:p>
            <a:r>
              <a:rPr lang="en-GB" sz="1550">
                <a:solidFill>
                  <a:srgbClr val="001B3A"/>
                </a:solidFill>
                <a:latin typeface="Arial" panose="020B0604020202020204" pitchFamily="34" charset="0"/>
              </a:rPr>
              <a:t>Main contribution: an end-to-end MATLAB pipeline from carrier dynamics to validated THz field patterns</a:t>
            </a:r>
            <a:endParaRPr lang="en-GB" sz="1550" dirty="0">
              <a:solidFill>
                <a:srgbClr val="001B3A"/>
              </a:solidFill>
              <a:latin typeface="Arial" panose="020B0604020202020204" pitchFamily="34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4B9FBD-82BA-48B9-3550-E88F14FADFD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05A94FA-C8D3-3F9E-7DB1-746CF60D13AF}"/>
              </a:ext>
            </a:extLst>
          </p:cNvPr>
          <p:cNvCxnSpPr/>
          <p:nvPr/>
        </p:nvCxnSpPr>
        <p:spPr>
          <a:xfrm>
            <a:off x="635000" y="1308100"/>
            <a:ext cx="990600" cy="0"/>
          </a:xfrm>
          <a:prstGeom prst="line">
            <a:avLst/>
          </a:prstGeom>
          <a:ln w="33020">
            <a:solidFill>
              <a:srgbClr val="F6A8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EE20006-0C5B-7D9E-7B18-A6DD546FB368}"/>
              </a:ext>
            </a:extLst>
          </p:cNvPr>
          <p:cNvSpPr/>
          <p:nvPr/>
        </p:nvSpPr>
        <p:spPr>
          <a:xfrm>
            <a:off x="736600" y="1320800"/>
            <a:ext cx="1371600" cy="279400"/>
          </a:xfrm>
          <a:prstGeom prst="roundRect">
            <a:avLst/>
          </a:prstGeom>
          <a:solidFill>
            <a:srgbClr val="005EB8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Arial" panose="020B0604020202020204" pitchFamily="34" charset="0"/>
              </a:rPr>
              <a:t>Conclusions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313FD6-B6A7-D257-BD58-3591201C55C3}"/>
              </a:ext>
            </a:extLst>
          </p:cNvPr>
          <p:cNvSpPr txBox="1"/>
          <p:nvPr/>
        </p:nvSpPr>
        <p:spPr>
          <a:xfrm>
            <a:off x="889000" y="1816100"/>
            <a:ext cx="3619500" cy="12085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GB" sz="1170">
                <a:solidFill>
                  <a:srgbClr val="1F2A35"/>
                </a:solidFill>
                <a:latin typeface="Arial" panose="020B0604020202020204" pitchFamily="34" charset="0"/>
              </a:rPr>
              <a:t>- Implemented retarded-potential far-field calculation for full Jx, Jy, Jz histories.</a:t>
            </a:r>
          </a:p>
          <a:p>
            <a:pPr>
              <a:spcAft>
                <a:spcPts val="500"/>
              </a:spcAft>
            </a:pPr>
            <a:r>
              <a:rPr lang="en-GB" sz="1170">
                <a:solidFill>
                  <a:srgbClr val="1F2A35"/>
                </a:solidFill>
                <a:latin typeface="Arial" panose="020B0604020202020204" pitchFamily="34" charset="0"/>
              </a:rPr>
              <a:t>- Coupled carrier diffusion and built-in-field dynamics to time-domain THz waveforms.</a:t>
            </a:r>
          </a:p>
          <a:p>
            <a:pPr>
              <a:spcAft>
                <a:spcPts val="500"/>
              </a:spcAft>
            </a:pPr>
            <a:r>
              <a:rPr lang="en-GB" sz="1170">
                <a:solidFill>
                  <a:srgbClr val="1F2A35"/>
                </a:solidFill>
                <a:latin typeface="Arial" panose="020B0604020202020204" pitchFamily="34" charset="0"/>
              </a:rPr>
              <a:t>- Reproduced the key angular emission lobe reported in the literature.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AE28350-203D-5EB4-3A94-0FE1937BE238}"/>
              </a:ext>
            </a:extLst>
          </p:cNvPr>
          <p:cNvSpPr/>
          <p:nvPr/>
        </p:nvSpPr>
        <p:spPr>
          <a:xfrm>
            <a:off x="4851400" y="1320800"/>
            <a:ext cx="1371600" cy="279400"/>
          </a:xfrm>
          <a:prstGeom prst="roundRect">
            <a:avLst/>
          </a:prstGeom>
          <a:solidFill>
            <a:srgbClr val="F6A8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25400" rIns="76200" bIns="25400" rtlCol="0" anchor="ctr"/>
          <a:lstStyle/>
          <a:p>
            <a:pPr algn="ctr"/>
            <a:r>
              <a:rPr lang="en-GB" sz="900" b="1">
                <a:solidFill>
                  <a:srgbClr val="FFFFFF"/>
                </a:solidFill>
                <a:latin typeface="Arial" panose="020B0604020202020204" pitchFamily="34" charset="0"/>
              </a:rPr>
              <a:t>Future work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EF93D0-CA5B-854F-509A-5C6C0CEAD4EB}"/>
              </a:ext>
            </a:extLst>
          </p:cNvPr>
          <p:cNvSpPr txBox="1"/>
          <p:nvPr/>
        </p:nvSpPr>
        <p:spPr>
          <a:xfrm>
            <a:off x="5003800" y="1816100"/>
            <a:ext cx="3556000" cy="120853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500"/>
              </a:spcAft>
            </a:pPr>
            <a:r>
              <a:rPr lang="en-GB" sz="1170">
                <a:solidFill>
                  <a:srgbClr val="1F2A35"/>
                </a:solidFill>
                <a:latin typeface="Arial" panose="020B0604020202020204" pitchFamily="34" charset="0"/>
              </a:rPr>
              <a:t>- Calibrate waveform amplitudes using detector response and collection geometry.</a:t>
            </a:r>
          </a:p>
          <a:p>
            <a:pPr>
              <a:spcAft>
                <a:spcPts val="500"/>
              </a:spcAft>
            </a:pPr>
            <a:r>
              <a:rPr lang="en-GB" sz="1170">
                <a:solidFill>
                  <a:srgbClr val="1F2A35"/>
                </a:solidFill>
                <a:latin typeface="Arial" panose="020B0604020202020204" pitchFamily="34" charset="0"/>
              </a:rPr>
              <a:t>- Run sensitivity studies for beam waist, carrier lifetime, mobility and depletion field.</a:t>
            </a:r>
          </a:p>
          <a:p>
            <a:pPr>
              <a:spcAft>
                <a:spcPts val="500"/>
              </a:spcAft>
            </a:pPr>
            <a:r>
              <a:rPr lang="en-GB" sz="1170">
                <a:solidFill>
                  <a:srgbClr val="1F2A35"/>
                </a:solidFill>
                <a:latin typeface="Arial" panose="020B0604020202020204" pitchFamily="34" charset="0"/>
              </a:rPr>
              <a:t>- Extend the model to structured metasurfaces and spatially resolved THz maps.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6D99BB-E99C-6D85-1EA2-F47169AB9CDD}"/>
              </a:ext>
            </a:extLst>
          </p:cNvPr>
          <p:cNvSpPr/>
          <p:nvPr/>
        </p:nvSpPr>
        <p:spPr>
          <a:xfrm>
            <a:off x="889000" y="3657600"/>
            <a:ext cx="7366000" cy="609600"/>
          </a:xfrm>
          <a:prstGeom prst="roundRect">
            <a:avLst/>
          </a:prstGeom>
          <a:solidFill>
            <a:srgbClr val="001B3A"/>
          </a:solidFill>
          <a:ln w="9525" cap="flat" cmpd="sng" algn="ctr">
            <a:solidFill>
              <a:srgbClr val="001B3A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2BF9EC-69E9-EA0D-AC59-870E41680597}"/>
              </a:ext>
            </a:extLst>
          </p:cNvPr>
          <p:cNvSpPr txBox="1"/>
          <p:nvPr/>
        </p:nvSpPr>
        <p:spPr>
          <a:xfrm>
            <a:off x="1117600" y="3873500"/>
            <a:ext cx="6908800" cy="3631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80" b="1">
                <a:solidFill>
                  <a:srgbClr val="FFFFFF"/>
                </a:solidFill>
                <a:latin typeface="Arial" panose="020B0604020202020204" pitchFamily="34" charset="0"/>
              </a:rPr>
              <a:t>Takeaway for Q&amp;A: the key assumption is that normalised angular shape is a valid first validation target for the far-field model.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2993BD3-B7D1-698C-22DD-88C25274584C}"/>
              </a:ext>
            </a:extLst>
          </p:cNvPr>
          <p:cNvSpPr/>
          <p:nvPr/>
        </p:nvSpPr>
        <p:spPr>
          <a:xfrm>
            <a:off x="0" y="4699000"/>
            <a:ext cx="9144000" cy="444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8BABFC1-F9BE-F488-5CA8-6710FBF0BDC4}"/>
              </a:ext>
            </a:extLst>
          </p:cNvPr>
          <p:cNvCxnSpPr/>
          <p:nvPr/>
        </p:nvCxnSpPr>
        <p:spPr>
          <a:xfrm>
            <a:off x="508000" y="4749800"/>
            <a:ext cx="8128000" cy="0"/>
          </a:xfrm>
          <a:prstGeom prst="line">
            <a:avLst/>
          </a:prstGeom>
          <a:ln w="6350">
            <a:solidFill>
              <a:srgbClr val="D9E2E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B52821D-EC0D-5F94-D7C9-3ED82B8FC14F}"/>
              </a:ext>
            </a:extLst>
          </p:cNvPr>
          <p:cNvSpPr txBox="1"/>
          <p:nvPr/>
        </p:nvSpPr>
        <p:spPr>
          <a:xfrm>
            <a:off x="533400" y="4851400"/>
            <a:ext cx="7112000" cy="9695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630">
                <a:solidFill>
                  <a:srgbClr val="5B6770"/>
                </a:solidFill>
                <a:latin typeface="Arial" panose="020B0604020202020204" pitchFamily="34" charset="0"/>
              </a:rPr>
              <a:t>Summary of contributions prepared against the ELEC0118 final project presentation rubric.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075D31-D155-1EEC-0E2B-1392A48B493F}"/>
              </a:ext>
            </a:extLst>
          </p:cNvPr>
          <p:cNvSpPr txBox="1"/>
          <p:nvPr/>
        </p:nvSpPr>
        <p:spPr>
          <a:xfrm>
            <a:off x="8280400" y="4813300"/>
            <a:ext cx="3556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005EB8"/>
                </a:solidFill>
                <a:latin typeface="Arial" panose="020B06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651655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</p:sld>
</file>

<file path=ppt/theme/theme1.xml><?xml version="1.0" encoding="utf-8"?>
<a:theme xmlns:a="http://schemas.openxmlformats.org/drawingml/2006/main" name="3rd_year_project_e-poster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3799</TotalTime>
  <Words>1201</Words>
  <Application>Microsoft Office PowerPoint</Application>
  <PresentationFormat>On-screen Show (16:9)</PresentationFormat>
  <Paragraphs>134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Helvetica</vt:lpstr>
      <vt:lpstr>3rd_year_project_e-poster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UCL 16:9 PP Plain - DARK BLUE</dc:title>
  <dc:subject/>
  <dc:creator>Clayton, Janine</dc:creator>
  <cp:keywords/>
  <dc:description/>
  <cp:lastModifiedBy>Yaoqi Dong</cp:lastModifiedBy>
  <cp:revision>138</cp:revision>
  <dcterms:created xsi:type="dcterms:W3CDTF">2016-12-07T10:36:45Z</dcterms:created>
  <dcterms:modified xsi:type="dcterms:W3CDTF">2026-05-31T10:30:56Z</dcterms:modified>
  <cp:category/>
</cp:coreProperties>
</file>