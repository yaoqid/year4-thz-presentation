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5" r:id="rId1"/>
  </p:sldMasterIdLst>
  <p:notesMasterIdLst>
    <p:notesMasterId r:id="rId12"/>
  </p:notesMasterIdLst>
  <p:sldIdLst>
    <p:sldId id="256" r:id="rId2"/>
    <p:sldId id="299" r:id="rId3"/>
    <p:sldId id="305" r:id="rId4"/>
    <p:sldId id="304" r:id="rId5"/>
    <p:sldId id="303" r:id="rId6"/>
    <p:sldId id="302" r:id="rId7"/>
    <p:sldId id="301" r:id="rId8"/>
    <p:sldId id="300" r:id="rId9"/>
    <p:sldId id="306" r:id="rId10"/>
    <p:sldId id="307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6BE00"/>
    <a:srgbClr val="0097A9"/>
    <a:srgbClr val="003D4C"/>
    <a:srgbClr val="B2E2ED"/>
    <a:srgbClr val="4E3829"/>
    <a:srgbClr val="8DB9CA"/>
    <a:srgbClr val="D6D2C4"/>
    <a:srgbClr val="00FF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82" autoAdjust="0"/>
    <p:restoredTop sz="89538" autoAdjust="0"/>
  </p:normalViewPr>
  <p:slideViewPr>
    <p:cSldViewPr snapToGrid="0" snapToObjects="1">
      <p:cViewPr varScale="1">
        <p:scale>
          <a:sx n="143" d="100"/>
          <a:sy n="143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EE1CD-6EDF-5C43-ACE9-942F6C137C3E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55201-7865-8744-8A9B-9F5FC03C5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0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Open by clarifying this is not the whole team project; it is Yaoqi's electric-field contribution.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90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The message is causality plus transverse projection: current acceleration at retarded time is the source of the far field. Also note: a steady current does not radiate, so the emitted field follows dJ/dt.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Use this slide to connect every mathematical symbol to an actual array operation in the MATLAB code. Mention that complexity is O(Nx Ny Nt) per observation point.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The strongest engineering point here is that each source cell has a different retarded time, but the implementation avoids a spatial double loop. Set up the interpolation by noting the retarded time generally falls between stored time samples.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Point out that the ring is the source-side explanation for the angular lobe.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This slide is about waveform physics: the current derivative changes sign, producing a bipolar THz pulse.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This is the first custom validation: same shape, different scale.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End with the precise contribution: a validated electric-field engine plus a custom-current pathway.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463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3D4C"/>
                </a:solidFill>
                <a:latin typeface="Helvetica" pitchFamily="2" charset="0"/>
                <a:ea typeface="Helvetica" pitchFamily="2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06039"/>
            <a:ext cx="7886700" cy="2168129"/>
          </a:xfrm>
        </p:spPr>
        <p:txBody>
          <a:bodyPr>
            <a:normAutofit/>
          </a:bodyPr>
          <a:lstStyle>
            <a:lvl1pPr marL="180975" indent="-180975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542925" indent="-180975">
              <a:defRPr sz="2400" b="0">
                <a:latin typeface="Helvetica" pitchFamily="2" charset="0"/>
              </a:defRPr>
            </a:lvl3pPr>
            <a:lvl4pPr>
              <a:defRPr>
                <a:latin typeface="Helvetica" pitchFamily="2" charset="0"/>
              </a:defRPr>
            </a:lvl4pPr>
            <a:lvl5pPr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9144000" cy="1235075"/>
            <a:chOff x="0" y="-66259"/>
            <a:chExt cx="9144000" cy="123507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999" y="287999"/>
            <a:ext cx="5488958" cy="41619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aseline="0">
                <a:solidFill>
                  <a:schemeClr val="bg1"/>
                </a:solidFill>
                <a:latin typeface="Helvetica" pitchFamily="2" charset="0"/>
              </a:defRPr>
            </a:lvl1pPr>
            <a:lvl2pPr marL="0" indent="0">
              <a:lnSpc>
                <a:spcPct val="80000"/>
              </a:lnSpc>
              <a:buNone/>
              <a:defRPr sz="1100">
                <a:solidFill>
                  <a:schemeClr val="bg1"/>
                </a:solidFill>
                <a:latin typeface="Helvetica" pitchFamily="2" charset="0"/>
              </a:defRPr>
            </a:lvl2pPr>
            <a:lvl3pPr marL="0" indent="0">
              <a:buNone/>
              <a:defRPr sz="11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>
              <a:lnSpc>
                <a:spcPct val="114000"/>
              </a:lnSpc>
            </a:pPr>
            <a:r>
              <a:rPr lang="en-US" dirty="0">
                <a:latin typeface="Helvetica" pitchFamily="2" charset="0"/>
              </a:rPr>
              <a:t>Department of Electronic &amp; Electrical Engineering</a:t>
            </a:r>
            <a:br>
              <a:rPr lang="en-US" dirty="0">
                <a:latin typeface="Helvetica" pitchFamily="2" charset="0"/>
              </a:rPr>
            </a:br>
            <a:r>
              <a:rPr lang="en-US" dirty="0">
                <a:latin typeface="Helvetica" pitchFamily="2" charset="0"/>
              </a:rPr>
              <a:t>Faculty of Engineering Sciences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BD41C90-D51B-4FE7-9080-EE87B4246E56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074A37E-2D66-4CC6-BAD6-C2F9729B7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2D4288A-D562-40F9-A428-C13061DCC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B03C3FA-D699-461F-A60A-2AD81F14D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24000" y="360000"/>
            <a:ext cx="147064" cy="172800"/>
          </a:xfrm>
          <a:prstGeom prst="rect">
            <a:avLst/>
          </a:prstGeom>
          <a:noFill/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02A824E-2FC0-4C2C-9B83-187255250D06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30000" y="1386000"/>
            <a:ext cx="7887600" cy="3128578"/>
          </a:xfrm>
        </p:spPr>
        <p:txBody>
          <a:bodyPr>
            <a:normAutofit/>
          </a:bodyPr>
          <a:lstStyle>
            <a:lvl1pPr marL="1778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556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2pPr>
            <a:lvl3pPr marL="534988" indent="-179388">
              <a:defRPr sz="2400" b="0">
                <a:solidFill>
                  <a:schemeClr val="tx1"/>
                </a:solidFill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CE05F7E-50D7-4DDD-9F3C-546AF69CC7DD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30000" y="858891"/>
            <a:ext cx="7887600" cy="525740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97A9"/>
                </a:solidFill>
                <a:latin typeface="Helvetica" pitchFamily="2" charset="0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E5B0F-5775-4DE6-9DC6-BA08FE6BED36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Yaoqi Dong: Electric Field Computation</a:t>
            </a:r>
            <a:br>
              <a:rPr lang="en-GB" sz="110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70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80BF1C7-E2FB-4FF0-9A1C-BB5A9964F265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3B2CBEF-3E59-4967-AB64-4D64C22D2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0CDCFCC-5B7D-4F76-810D-5B3388560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CE05F7E-50D7-4DDD-9F3C-546AF69CC7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858891"/>
            <a:ext cx="7887600" cy="525740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97A9"/>
                </a:solidFill>
                <a:latin typeface="Helvetica" pitchFamily="2" charset="0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02A824E-2FC0-4C2C-9B83-187255250D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00" y="1386000"/>
            <a:ext cx="3942000" cy="3128578"/>
          </a:xfrm>
        </p:spPr>
        <p:txBody>
          <a:bodyPr>
            <a:normAutofit/>
          </a:bodyPr>
          <a:lstStyle>
            <a:lvl1pPr marL="1778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556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2pPr>
            <a:lvl3pPr marL="534988" indent="-179388">
              <a:defRPr sz="2400" b="0">
                <a:solidFill>
                  <a:schemeClr val="tx1"/>
                </a:solidFill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ABE3DB23-446F-403E-8CD8-8E34141D7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5600" y="1386000"/>
            <a:ext cx="3942000" cy="3128578"/>
          </a:xfrm>
        </p:spPr>
        <p:txBody>
          <a:bodyPr>
            <a:normAutofit/>
          </a:bodyPr>
          <a:lstStyle>
            <a:lvl1pPr marL="1778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556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2pPr>
            <a:lvl3pPr marL="534988" indent="-179388">
              <a:defRPr sz="2400" b="0">
                <a:solidFill>
                  <a:schemeClr val="tx1"/>
                </a:solidFill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74D432-2D68-4FCE-81F9-7499218BC034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Your Yaoqi Dong: Electric Field Computation</a:t>
            </a:r>
            <a:br>
              <a:rPr lang="en-GB" sz="110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90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FB4D6FA-29A3-4FA8-92C1-4779E95B8EF7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3F12A22-29E5-4B8D-84F2-8BDCB3F2C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730C075-A730-447C-9A7F-D84A44803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862384"/>
            <a:ext cx="7886700" cy="678815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3D4C"/>
                </a:solidFill>
                <a:latin typeface="Helvetica" pitchFamily="2" charset="0"/>
                <a:ea typeface="Helvetica" pitchFamily="2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49" y="1641806"/>
            <a:ext cx="7886699" cy="3139744"/>
          </a:xfrm>
        </p:spPr>
        <p:txBody>
          <a:bodyPr>
            <a:normAutofit/>
          </a:bodyPr>
          <a:lstStyle>
            <a:lvl1pPr marL="180975" indent="-180975"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628650" indent="-266700">
              <a:defRPr sz="2400" b="0"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90000" marR="0" lvl="0" indent="-900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-1" y="1"/>
            <a:ext cx="9144001" cy="333152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3C28B-3C79-4571-B38C-E8AB08B1BC17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Your Yaoqi Dong: Electric Field Computation</a:t>
            </a:r>
            <a:br>
              <a:rPr lang="en-GB" sz="110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23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two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C7C9EC5-ACBD-47D2-9977-B888DE4BAF1F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122B41C-4569-4E1F-9D1A-07A7DD4DD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1D5F28-D2CF-4BA5-A78C-7E74959F2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862384"/>
            <a:ext cx="7886700" cy="678815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3D4C"/>
                </a:solidFill>
                <a:latin typeface="Helvetica" pitchFamily="2" charset="0"/>
                <a:ea typeface="Helvetica" pitchFamily="2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49" y="1641806"/>
            <a:ext cx="3943351" cy="3139744"/>
          </a:xfrm>
        </p:spPr>
        <p:txBody>
          <a:bodyPr>
            <a:normAutofit/>
          </a:bodyPr>
          <a:lstStyle>
            <a:lvl1pPr marL="180975" indent="-180975"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628650" indent="-266700">
              <a:defRPr sz="2400" b="0"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90000" marR="0" lvl="0" indent="-900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-1" y="1"/>
            <a:ext cx="9144001" cy="333152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6B7243E-B715-4A47-ACBF-8DB06C0BF2C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1641806"/>
            <a:ext cx="3943351" cy="3139744"/>
          </a:xfrm>
        </p:spPr>
        <p:txBody>
          <a:bodyPr>
            <a:normAutofit/>
          </a:bodyPr>
          <a:lstStyle>
            <a:lvl1pPr marL="180975" indent="-180975"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628650" indent="-266700">
              <a:defRPr sz="2400" b="0"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90000" marR="0" lvl="0" indent="-900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84BC6-D831-4D2F-9688-3D46EF7C03E6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Your Yaoqi Dong: Electric Field Computation</a:t>
            </a:r>
            <a:br>
              <a:rPr lang="en-GB" sz="110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4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00742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165187" y="165584"/>
            <a:ext cx="3216840" cy="7049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2700"/>
            <a:endParaRPr lang="en-GB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7504A-F7CD-42C0-85BE-600064000CF1}"/>
              </a:ext>
            </a:extLst>
          </p:cNvPr>
          <p:cNvSpPr txBox="1"/>
          <p:nvPr userDrawn="1"/>
        </p:nvSpPr>
        <p:spPr>
          <a:xfrm>
            <a:off x="7686675" y="4774168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392043B3-3542-497E-9F7F-145FB995996D}" type="slidenum">
              <a:rPr lang="en-GB" sz="1600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of 4</a:t>
            </a:r>
          </a:p>
        </p:txBody>
      </p:sp>
    </p:spTree>
    <p:extLst>
      <p:ext uri="{BB962C8B-B14F-4D97-AF65-F5344CB8AC3E}">
        <p14:creationId xmlns:p14="http://schemas.microsoft.com/office/powerpoint/2010/main" val="30830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814" r:id="rId2"/>
    <p:sldLayoutId id="2147483815" r:id="rId3"/>
    <p:sldLayoutId id="2147483813" r:id="rId4"/>
    <p:sldLayoutId id="2147483816" r:id="rId5"/>
  </p:sldLayoutIdLst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1pPr>
      <a:lvl2pPr marL="357188" indent="-1778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2pPr>
      <a:lvl3pPr marL="536575" indent="-179388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>
          <a:tab pos="447675" algn="l"/>
        </a:tabLst>
        <a:defRPr sz="2400" b="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3pPr>
      <a:lvl4pPr marL="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4pPr>
      <a:lvl5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2C37F-4330-55AA-A225-9E62A1B31D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1869D7-C3A3-735E-9D86-6AE6B2449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6176C77-0355-7DFA-4DC6-DCA39700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48F43A-D3D9-EE4B-29FE-A50EB04AD45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C545F6-8D17-5D42-BA4D-8E77CFB7932A}"/>
              </a:ext>
            </a:extLst>
          </p:cNvPr>
          <p:cNvSpPr/>
          <p:nvPr/>
        </p:nvSpPr>
        <p:spPr>
          <a:xfrm>
            <a:off x="0" y="0"/>
            <a:ext cx="3175000" cy="5143500"/>
          </a:xfrm>
          <a:prstGeom prst="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9B543-18F5-FF9C-23A9-192478C8F2A6}"/>
              </a:ext>
            </a:extLst>
          </p:cNvPr>
          <p:cNvSpPr txBox="1"/>
          <p:nvPr/>
        </p:nvSpPr>
        <p:spPr>
          <a:xfrm>
            <a:off x="533400" y="1168400"/>
            <a:ext cx="3810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FFFFFF"/>
                </a:solidFill>
                <a:latin typeface="Arial" panose="020B0604020202020204" pitchFamily="34" charset="0"/>
              </a:rPr>
              <a:t>Electric Field Computation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1325EA-1C68-A22C-420D-0A338958F702}"/>
              </a:ext>
            </a:extLst>
          </p:cNvPr>
          <p:cNvSpPr txBox="1"/>
          <p:nvPr/>
        </p:nvSpPr>
        <p:spPr>
          <a:xfrm>
            <a:off x="546100" y="2200000"/>
            <a:ext cx="44000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30">
                <a:solidFill>
                  <a:srgbClr val="D7E8F7"/>
                </a:solidFill>
                <a:latin typeface="Arial" panose="020B0604020202020204" pitchFamily="34" charset="0"/>
              </a:rPr>
              <a:t>Yaoqi Dong: turning the team's simulated current density J(r,t) into the radiated far-field THz signal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79B66F2-7B1B-900C-EDAA-B6336D48993C}"/>
              </a:ext>
            </a:extLst>
          </p:cNvPr>
          <p:cNvCxnSpPr/>
          <p:nvPr/>
        </p:nvCxnSpPr>
        <p:spPr>
          <a:xfrm>
            <a:off x="546100" y="2387600"/>
            <a:ext cx="1079500" cy="0"/>
          </a:xfrm>
          <a:prstGeom prst="line">
            <a:avLst/>
          </a:prstGeom>
          <a:ln w="4445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FDCC6B1-0949-73FC-507C-3A9BC998B554}"/>
              </a:ext>
            </a:extLst>
          </p:cNvPr>
          <p:cNvSpPr txBox="1"/>
          <p:nvPr/>
        </p:nvSpPr>
        <p:spPr>
          <a:xfrm>
            <a:off x="4978400" y="11176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6A800"/>
                </a:solidFill>
                <a:latin typeface="Arial" panose="020B0604020202020204" pitchFamily="34" charset="0"/>
              </a:rPr>
              <a:t>Scope of this section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D31236-EA55-2471-659B-6B1B77E4EE4E}"/>
              </a:ext>
            </a:extLst>
          </p:cNvPr>
          <p:cNvSpPr txBox="1"/>
          <p:nvPr/>
        </p:nvSpPr>
        <p:spPr>
          <a:xfrm>
            <a:off x="4978400" y="1549400"/>
            <a:ext cx="3403600" cy="14250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GB" sz="1180">
                <a:solidFill>
                  <a:srgbClr val="FFFFFF"/>
                </a:solidFill>
                <a:latin typeface="Arial" panose="020B0604020202020204" pitchFamily="34" charset="0"/>
              </a:rPr>
              <a:t>- Electric field theory: retarded potentials and far-field radiation.</a:t>
            </a:r>
          </a:p>
          <a:p>
            <a:pPr>
              <a:spcAft>
                <a:spcPts val="400"/>
              </a:spcAft>
            </a:pPr>
            <a:r>
              <a:rPr lang="en-GB" sz="1180">
                <a:solidFill>
                  <a:srgbClr val="FFFFFF"/>
                </a:solidFill>
                <a:latin typeface="Arial" panose="020B0604020202020204" pitchFamily="34" charset="0"/>
              </a:rPr>
              <a:t>- Electric field computation: vectorised MATLAB implementation.</a:t>
            </a:r>
          </a:p>
          <a:p>
            <a:pPr>
              <a:spcAft>
                <a:spcPts val="400"/>
              </a:spcAft>
            </a:pPr>
            <a:r>
              <a:rPr lang="en-GB" sz="1180">
                <a:solidFill>
                  <a:srgbClr val="FFFFFF"/>
                </a:solidFill>
                <a:latin typeface="Arial" panose="020B0604020202020204" pitchFamily="34" charset="0"/>
              </a:rPr>
              <a:t>- Far-field THz angular emission validation.</a:t>
            </a:r>
          </a:p>
          <a:p>
            <a:pPr>
              <a:spcAft>
                <a:spcPts val="400"/>
              </a:spcAft>
            </a:pPr>
            <a:r>
              <a:rPr lang="en-GB" sz="1180">
                <a:solidFill>
                  <a:srgbClr val="FFFFFF"/>
                </a:solidFill>
                <a:latin typeface="Arial" panose="020B0604020202020204" pitchFamily="34" charset="0"/>
              </a:rPr>
              <a:t>- Custom model results and bipolar pulse waveform.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358B27-73A1-39CA-96B4-EA36657522A7}"/>
              </a:ext>
            </a:extLst>
          </p:cNvPr>
          <p:cNvSpPr txBox="1"/>
          <p:nvPr/>
        </p:nvSpPr>
        <p:spPr>
          <a:xfrm>
            <a:off x="546100" y="3835400"/>
            <a:ext cx="431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FFFFFF"/>
                </a:solidFill>
                <a:latin typeface="Arial" panose="020B0604020202020204" pitchFamily="34" charset="0"/>
              </a:rPr>
              <a:t>Supervisor: Professor Oleg Mitrofanov</a:t>
            </a:r>
          </a:p>
          <a:p>
            <a:r>
              <a:rPr lang="en-GB" sz="1000">
                <a:solidFill>
                  <a:srgbClr val="FFFFFF"/>
                </a:solidFill>
                <a:latin typeface="Arial" panose="020B0604020202020204" pitchFamily="34" charset="0"/>
              </a:rPr>
              <a:t>Department of Electronic &amp; Electrical Engineering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0A002A-F6FD-FB5A-E193-0C81D054272F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7A8DBF-D62A-67FA-F732-105A9A8D6898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7F5E854-1A8D-9F5B-79B8-540D0CCF9E8C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Deck refocused to Yaoqi Dong's electric-field sections only.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434C6F-C6EA-A95B-9023-6F0D221699E4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775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794500" cy="584200"/>
          </a:xfrm>
        </p:spPr>
        <p:txBody>
          <a:bodyPr>
            <a:noAutofit/>
          </a:bodyPr>
          <a:lstStyle/>
          <a:p>
            <a:r>
              <a:rPr lang="en-GB" sz="1600">
                <a:solidFill>
                  <a:srgbClr val="001B3A"/>
                </a:solidFill>
                <a:latin typeface="Arial" panose="020B0604020202020204" pitchFamily="34" charset="0"/>
              </a:rPr>
              <a:t>Far-field THz emission is driven by the retarded time derivative of current density</a:t>
            </a:r>
            <a:endParaRPr lang="en-GB" sz="160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07530A-C149-5D65-830D-C9FED69E6BE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AE7E3C-6385-FB71-D07E-C0D16BAAF186}"/>
              </a:ext>
            </a:extLst>
          </p:cNvPr>
          <p:cNvCxnSpPr/>
          <p:nvPr/>
        </p:nvCxnSpPr>
        <p:spPr>
          <a:xfrm>
            <a:off x="635000" y="12954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E65117-917C-1629-8459-4AD199AD8418}"/>
              </a:ext>
            </a:extLst>
          </p:cNvPr>
          <p:cNvSpPr/>
          <p:nvPr/>
        </p:nvSpPr>
        <p:spPr>
          <a:xfrm>
            <a:off x="609600" y="1498600"/>
            <a:ext cx="3175000" cy="8255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C89173-4E88-09F8-C454-57012929878C}"/>
              </a:ext>
            </a:extLst>
          </p:cNvPr>
          <p:cNvSpPr txBox="1"/>
          <p:nvPr/>
        </p:nvSpPr>
        <p:spPr>
          <a:xfrm>
            <a:off x="736600" y="16256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600">
                <a:solidFill>
                  <a:srgbClr val="001B3A"/>
                </a:solidFill>
                <a:latin typeface="Cambria Math" panose="02040503050406030204" pitchFamily="18" charset="0"/>
              </a:rPr>
              <a:t>t_ret = t - R/c,    R = |r - r′|</a:t>
            </a:r>
            <a:endParaRPr lang="en-GB" sz="1600">
              <a:solidFill>
                <a:srgbClr val="001B3A"/>
              </a:solidFill>
              <a:latin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4CB8E-5811-CDB6-6E0F-1AAFECFBA100}"/>
              </a:ext>
            </a:extLst>
          </p:cNvPr>
          <p:cNvSpPr txBox="1"/>
          <p:nvPr/>
        </p:nvSpPr>
        <p:spPr>
          <a:xfrm>
            <a:off x="711200" y="2095500"/>
            <a:ext cx="29718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80">
                <a:solidFill>
                  <a:srgbClr val="5B6770"/>
                </a:solidFill>
                <a:latin typeface="Arial" panose="020B0604020202020204" pitchFamily="34" charset="0"/>
              </a:rPr>
              <a:t>retarded time: finite propagation delay from source to observer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840106-A6FE-1F2E-885C-17F505A45410}"/>
              </a:ext>
            </a:extLst>
          </p:cNvPr>
          <p:cNvSpPr/>
          <p:nvPr/>
        </p:nvSpPr>
        <p:spPr>
          <a:xfrm>
            <a:off x="4191000" y="1422400"/>
            <a:ext cx="4318000" cy="1041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97DACC-04A0-E6A9-A9AD-B2A706BBADA6}"/>
              </a:ext>
            </a:extLst>
          </p:cNvPr>
          <p:cNvSpPr txBox="1"/>
          <p:nvPr/>
        </p:nvSpPr>
        <p:spPr>
          <a:xfrm>
            <a:off x="4318000" y="1549400"/>
            <a:ext cx="406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>
                <a:solidFill>
                  <a:srgbClr val="001B3A"/>
                </a:solidFill>
                <a:latin typeface="Cambria Math" panose="02040503050406030204" pitchFamily="18" charset="0"/>
              </a:rPr>
              <a:t>E(r,t) ≈ μ₀/(4π) ∬_S [ R̂ × (R̂ × J̇(r′,t_ret)) ] / R  dS′</a:t>
            </a:r>
            <a:endParaRPr lang="en-GB" sz="1400">
              <a:solidFill>
                <a:srgbClr val="001B3A"/>
              </a:solidFill>
              <a:latin typeface="Cambria Math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DE4AA5-622F-2464-F9EB-C28FE7DFD900}"/>
              </a:ext>
            </a:extLst>
          </p:cNvPr>
          <p:cNvSpPr txBox="1"/>
          <p:nvPr/>
        </p:nvSpPr>
        <p:spPr>
          <a:xfrm>
            <a:off x="4292600" y="2235200"/>
            <a:ext cx="41148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80">
                <a:solidFill>
                  <a:srgbClr val="5B6770"/>
                </a:solidFill>
                <a:latin typeface="Arial" panose="020B0604020202020204" pitchFamily="34" charset="0"/>
              </a:rPr>
              <a:t>radiation term of Jefimenko's equation used in the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6BA56D-15F0-2DCA-0422-5F38964F8DDB}"/>
              </a:ext>
            </a:extLst>
          </p:cNvPr>
          <p:cNvSpPr txBox="1"/>
          <p:nvPr/>
        </p:nvSpPr>
        <p:spPr>
          <a:xfrm>
            <a:off x="889000" y="2870200"/>
            <a:ext cx="7175500" cy="6750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GB" sz="1240">
                <a:solidFill>
                  <a:srgbClr val="1F2A35"/>
                </a:solidFill>
                <a:latin typeface="Arial" panose="020B0604020202020204" pitchFamily="34" charset="0"/>
              </a:rPr>
              <a:t>- Only the radiation term is kept because the observation point is in the far field.</a:t>
            </a:r>
          </a:p>
          <a:p>
            <a:pPr>
              <a:spcAft>
                <a:spcPts val="400"/>
              </a:spcAft>
            </a:pPr>
            <a:r>
              <a:rPr lang="en-GB" sz="1240">
                <a:solidFill>
                  <a:srgbClr val="1F2A35"/>
                </a:solidFill>
                <a:latin typeface="Arial" panose="020B0604020202020204" pitchFamily="34" charset="0"/>
              </a:rPr>
              <a:t>- The double cross product extracts the transverse component that can propagate.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EE0FE9-BCC1-27E3-D23C-0E64C1EE6497}"/>
              </a:ext>
            </a:extLst>
          </p:cNvPr>
          <p:cNvSpPr/>
          <p:nvPr/>
        </p:nvSpPr>
        <p:spPr>
          <a:xfrm>
            <a:off x="889000" y="4000500"/>
            <a:ext cx="1498600" cy="279400"/>
          </a:xfrm>
          <a:prstGeom prst="roundRect">
            <a:avLst/>
          </a:prstGeom>
          <a:solidFill>
            <a:srgbClr val="69BE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GB" sz="880" b="1">
                <a:solidFill>
                  <a:srgbClr val="FFFFFF"/>
                </a:solidFill>
                <a:latin typeface="Arial" panose="020B0604020202020204" pitchFamily="34" charset="0"/>
              </a:rPr>
              <a:t>Physical read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F414F7-BF02-DE4A-9B2A-233386B5F53A}"/>
              </a:ext>
            </a:extLst>
          </p:cNvPr>
          <p:cNvSpPr txBox="1"/>
          <p:nvPr/>
        </p:nvSpPr>
        <p:spPr>
          <a:xfrm>
            <a:off x="2603500" y="4013200"/>
            <a:ext cx="533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50" b="1">
                <a:solidFill>
                  <a:srgbClr val="001B3A"/>
                </a:solidFill>
                <a:latin typeface="Arial" panose="020B0604020202020204" pitchFamily="34" charset="0"/>
              </a:rPr>
              <a:t>Radial Photo-Dember currents cancel on-axis by symmetry, but off-axis observation leaves a net transverse THz field.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7FE33F-23B8-71EE-EFC6-4DCFD2914FFA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58C92C7-4F8F-1596-A1EA-5FF82C719937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A60347A-B02A-74A6-DF0B-901F7310DE0D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Report section: Electric Field Theory; equation implemented in compute_THz_E_from_Jx.m.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AE5FB2-45D6-5110-D432-197A38F4765E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5874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DDF785-4396-78D7-BE75-A0DCBDA0ADAE}"/>
              </a:ext>
            </a:extLst>
          </p:cNvPr>
          <p:cNvSpPr/>
          <p:nvPr/>
        </p:nvSpPr>
        <p:spPr>
          <a:xfrm>
            <a:off x="609600" y="1422400"/>
            <a:ext cx="3276600" cy="254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794500" cy="584200"/>
          </a:xfrm>
        </p:spPr>
        <p:txBody>
          <a:bodyPr>
            <a:noAutofit/>
          </a:bodyPr>
          <a:lstStyle/>
          <a:p>
            <a:r>
              <a:rPr lang="en-GB" sz="1600">
                <a:solidFill>
                  <a:srgbClr val="001B3A"/>
                </a:solidFill>
                <a:latin typeface="Arial" panose="020B0604020202020204" pitchFamily="34" charset="0"/>
              </a:rPr>
              <a:t>The MATLAB field solver discretises the surface into retarded Hertzian-dipole contributions</a:t>
            </a:r>
            <a:endParaRPr lang="en-GB" sz="160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C26A98-EE2F-C887-AE57-BFF1750694D0}"/>
              </a:ext>
            </a:extLst>
          </p:cNvPr>
          <p:cNvCxnSpPr/>
          <p:nvPr/>
        </p:nvCxnSpPr>
        <p:spPr>
          <a:xfrm>
            <a:off x="635000" y="12954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4B26E52-6EA7-44C4-A670-0B2C2BF051C4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101752" y="1498600"/>
            <a:ext cx="2292297" cy="22225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59C826-981B-3E76-4DF7-6630FED8150F}"/>
              </a:ext>
            </a:extLst>
          </p:cNvPr>
          <p:cNvSpPr txBox="1"/>
          <p:nvPr/>
        </p:nvSpPr>
        <p:spPr>
          <a:xfrm>
            <a:off x="685800" y="3746500"/>
            <a:ext cx="31242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Far-field radiation geometry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A3F6B0-235A-DE06-78C9-0E13B2741410}"/>
              </a:ext>
            </a:extLst>
          </p:cNvPr>
          <p:cNvSpPr/>
          <p:nvPr/>
        </p:nvSpPr>
        <p:spPr>
          <a:xfrm>
            <a:off x="4191000" y="1422400"/>
            <a:ext cx="4318000" cy="11176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3754B8-13C5-199B-D980-A06203C79E8A}"/>
              </a:ext>
            </a:extLst>
          </p:cNvPr>
          <p:cNvSpPr txBox="1"/>
          <p:nvPr/>
        </p:nvSpPr>
        <p:spPr>
          <a:xfrm>
            <a:off x="4318000" y="1549400"/>
            <a:ext cx="406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50">
                <a:solidFill>
                  <a:srgbClr val="001B3A"/>
                </a:solidFill>
                <a:latin typeface="Cambria Math" panose="02040503050406030204" pitchFamily="18" charset="0"/>
              </a:rPr>
              <a:t>E(r,tₖ) ≈ </a:t>
            </a:r>
            <a:r>
              <a:rPr lang="el-GR" sz="1250">
                <a:solidFill>
                  <a:srgbClr val="001B3A"/>
                </a:solidFill>
                <a:latin typeface="Cambria Math" panose="02040503050406030204" pitchFamily="18" charset="0"/>
              </a:rPr>
              <a:t>μ₀/(4π) ∑</a:t>
            </a:r>
            <a:r>
              <a:rPr lang="en-GB" sz="1250">
                <a:solidFill>
                  <a:srgbClr val="001B3A"/>
                </a:solidFill>
                <a:latin typeface="Cambria Math" panose="02040503050406030204" pitchFamily="18" charset="0"/>
              </a:rPr>
              <a:t>ᵢ ∑ⱼ [ R̂ᵢⱼ × (R̂ᵢⱼ × J̇(r′ᵢⱼ,t_ret,ᵢⱼ)) ] / Rᵢⱼ </a:t>
            </a:r>
            <a:r>
              <a:rPr lang="el-GR" sz="1250">
                <a:solidFill>
                  <a:srgbClr val="001B3A"/>
                </a:solidFill>
                <a:latin typeface="Cambria Math" panose="02040503050406030204" pitchFamily="18" charset="0"/>
              </a:rPr>
              <a:t>Δ</a:t>
            </a:r>
            <a:r>
              <a:rPr lang="en-GB" sz="1250">
                <a:solidFill>
                  <a:srgbClr val="001B3A"/>
                </a:solidFill>
                <a:latin typeface="Cambria Math" panose="02040503050406030204" pitchFamily="18" charset="0"/>
              </a:rPr>
              <a:t>x </a:t>
            </a:r>
            <a:r>
              <a:rPr lang="el-GR" sz="1250">
                <a:solidFill>
                  <a:srgbClr val="001B3A"/>
                </a:solidFill>
                <a:latin typeface="Cambria Math" panose="02040503050406030204" pitchFamily="18" charset="0"/>
              </a:rPr>
              <a:t>Δ</a:t>
            </a:r>
            <a:r>
              <a:rPr lang="en-GB" sz="1250">
                <a:solidFill>
                  <a:srgbClr val="001B3A"/>
                </a:solidFill>
                <a:latin typeface="Cambria Math" panose="02040503050406030204" pitchFamily="18" charset="0"/>
              </a:rPr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B476A-0917-0630-7856-1BBA1B6525BD}"/>
              </a:ext>
            </a:extLst>
          </p:cNvPr>
          <p:cNvSpPr txBox="1"/>
          <p:nvPr/>
        </p:nvSpPr>
        <p:spPr>
          <a:xfrm>
            <a:off x="4292600" y="2311400"/>
            <a:ext cx="41148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80">
                <a:solidFill>
                  <a:srgbClr val="5B6770"/>
                </a:solidFill>
                <a:latin typeface="Arial" panose="020B0604020202020204" pitchFamily="34" charset="0"/>
              </a:rPr>
              <a:t>discrete surface sum over Nx by Ny source cells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5B6883-6B85-16AA-63F2-5AB5EF597149}"/>
              </a:ext>
            </a:extLst>
          </p:cNvPr>
          <p:cNvSpPr/>
          <p:nvPr/>
        </p:nvSpPr>
        <p:spPr>
          <a:xfrm>
            <a:off x="4191000" y="2730500"/>
            <a:ext cx="4318000" cy="7366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AD95B7-FF17-8858-886C-F92D897106E0}"/>
              </a:ext>
            </a:extLst>
          </p:cNvPr>
          <p:cNvSpPr txBox="1"/>
          <p:nvPr/>
        </p:nvSpPr>
        <p:spPr>
          <a:xfrm>
            <a:off x="4318000" y="2857500"/>
            <a:ext cx="4064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50">
                <a:solidFill>
                  <a:srgbClr val="001B3A"/>
                </a:solidFill>
                <a:latin typeface="Cambria Math" panose="02040503050406030204" pitchFamily="18" charset="0"/>
              </a:rPr>
              <a:t>J̇_x(xᵢ,yⱼ,tₖ) = [J_x(xᵢ,yⱼ,tₖ+1) - J_x(xᵢ,yⱼ,tₖ-1)] / (2</a:t>
            </a:r>
            <a:r>
              <a:rPr lang="el-GR" sz="1250">
                <a:solidFill>
                  <a:srgbClr val="001B3A"/>
                </a:solidFill>
                <a:latin typeface="Cambria Math" panose="02040503050406030204" pitchFamily="18" charset="0"/>
              </a:rPr>
              <a:t>Δ	)</a:t>
            </a:r>
            <a:endParaRPr lang="en-GB" sz="1250">
              <a:solidFill>
                <a:srgbClr val="001B3A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C335E1-742F-4A79-F59D-1BC099C6FB7F}"/>
              </a:ext>
            </a:extLst>
          </p:cNvPr>
          <p:cNvSpPr txBox="1"/>
          <p:nvPr/>
        </p:nvSpPr>
        <p:spPr>
          <a:xfrm>
            <a:off x="4292600" y="3238500"/>
            <a:ext cx="41148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80">
                <a:solidFill>
                  <a:srgbClr val="5B6770"/>
                </a:solidFill>
                <a:latin typeface="Arial" panose="020B0604020202020204" pitchFamily="34" charset="0"/>
              </a:rPr>
              <a:t>central finite difference used for dJ/dt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0DBE30-5E91-9C41-CD75-8281E6AFF38C}"/>
              </a:ext>
            </a:extLst>
          </p:cNvPr>
          <p:cNvSpPr txBox="1"/>
          <p:nvPr/>
        </p:nvSpPr>
        <p:spPr>
          <a:xfrm>
            <a:off x="4191000" y="3708400"/>
            <a:ext cx="4064000" cy="7673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GB" sz="1080">
                <a:solidFill>
                  <a:srgbClr val="1F2A35"/>
                </a:solidFill>
                <a:latin typeface="Arial" panose="020B0604020202020204" pitchFamily="34" charset="0"/>
              </a:rPr>
              <a:t>- Input arrays match the code: Jx, Jy, Jz are Ny x Nx x Nt histories.</a:t>
            </a:r>
          </a:p>
          <a:p>
            <a:pPr>
              <a:spcAft>
                <a:spcPts val="400"/>
              </a:spcAft>
            </a:pPr>
            <a:r>
              <a:rPr lang="en-GB" sz="1080">
                <a:solidFill>
                  <a:srgbClr val="1F2A35"/>
                </a:solidFill>
                <a:latin typeface="Arial" panose="020B0604020202020204" pitchFamily="34" charset="0"/>
              </a:rPr>
              <a:t>- R, Rhat and retarded indices are computed as matrices for all source cells.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7F2DFA-3EEF-0846-3AA6-D8BF08AC70B6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4CA7B2-7388-7FDD-18DD-4DAFD7999A68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B30F08-078C-EC38-8296-891D421BB0E0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Code match: dJx(:,:,2:Nt-1) central difference, meshgrid geometry, and dx dy summation.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69A10A-FA61-AA5A-665E-9CE555831B80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288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1350B9-C451-8BDE-F7E1-D1D315FE258B}"/>
              </a:ext>
            </a:extLst>
          </p:cNvPr>
          <p:cNvSpPr/>
          <p:nvPr/>
        </p:nvSpPr>
        <p:spPr>
          <a:xfrm>
            <a:off x="609600" y="1422400"/>
            <a:ext cx="3810000" cy="2667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794500" cy="584200"/>
          </a:xfrm>
        </p:spPr>
        <p:txBody>
          <a:bodyPr>
            <a:noAutofit/>
          </a:bodyPr>
          <a:lstStyle/>
          <a:p>
            <a:r>
              <a:rPr lang="en-GB" sz="1600">
                <a:solidFill>
                  <a:srgbClr val="001B3A"/>
                </a:solidFill>
                <a:latin typeface="Arial" panose="020B0604020202020204" pitchFamily="34" charset="0"/>
              </a:rPr>
              <a:t>Vectorisation makes retarded-time interpolation practical without nested spatial loops</a:t>
            </a:r>
            <a:endParaRPr lang="en-GB" sz="160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7DC0F5-BEFB-02C4-1E7A-C9EECB45D811}"/>
              </a:ext>
            </a:extLst>
          </p:cNvPr>
          <p:cNvCxnSpPr/>
          <p:nvPr/>
        </p:nvCxnSpPr>
        <p:spPr>
          <a:xfrm>
            <a:off x="635000" y="12954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349A1CD-E52F-8DE8-9780-741053B47CD4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73100" y="1735470"/>
            <a:ext cx="3683000" cy="187576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FD0FFB-418C-9D97-784A-DD3B85019051}"/>
              </a:ext>
            </a:extLst>
          </p:cNvPr>
          <p:cNvSpPr txBox="1"/>
          <p:nvPr/>
        </p:nvSpPr>
        <p:spPr>
          <a:xfrm>
            <a:off x="685800" y="3873500"/>
            <a:ext cx="36576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Three-stage far-field computation algorithm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AA47E0-5A6C-70D6-6284-470D41468E44}"/>
              </a:ext>
            </a:extLst>
          </p:cNvPr>
          <p:cNvSpPr/>
          <p:nvPr/>
        </p:nvSpPr>
        <p:spPr>
          <a:xfrm>
            <a:off x="4826000" y="1422400"/>
            <a:ext cx="3581400" cy="8890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DC4C1-B3C3-9F0C-B8F4-87092AB63CB7}"/>
              </a:ext>
            </a:extLst>
          </p:cNvPr>
          <p:cNvSpPr txBox="1"/>
          <p:nvPr/>
        </p:nvSpPr>
        <p:spPr>
          <a:xfrm>
            <a:off x="4953000" y="1549400"/>
            <a:ext cx="3327400" cy="3939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80">
                <a:solidFill>
                  <a:srgbClr val="001B3A"/>
                </a:solidFill>
                <a:latin typeface="Cambria Math" panose="02040503050406030204" pitchFamily="18" charset="0"/>
              </a:rPr>
              <a:t>J̇_ret = (1-</a:t>
            </a:r>
            <a:r>
              <a:rPr lang="el-GR" sz="1280">
                <a:solidFill>
                  <a:srgbClr val="001B3A"/>
                </a:solidFill>
                <a:latin typeface="Cambria Math" panose="02040503050406030204" pitchFamily="18" charset="0"/>
              </a:rPr>
              <a:t>α)</a:t>
            </a:r>
            <a:r>
              <a:rPr lang="en-GB" sz="1280">
                <a:solidFill>
                  <a:srgbClr val="001B3A"/>
                </a:solidFill>
                <a:latin typeface="Cambria Math" panose="02040503050406030204" pitchFamily="18" charset="0"/>
              </a:rPr>
              <a:t>J̇(r′,t_floor(</a:t>
            </a:r>
            <a:r>
              <a:rPr lang="el-GR" sz="1280">
                <a:solidFill>
                  <a:srgbClr val="001B3A"/>
                </a:solidFill>
                <a:latin typeface="Cambria Math" panose="02040503050406030204" pitchFamily="18" charset="0"/>
              </a:rPr>
              <a:t>τ)) + α </a:t>
            </a:r>
            <a:r>
              <a:rPr lang="en-GB" sz="1280">
                <a:solidFill>
                  <a:srgbClr val="001B3A"/>
                </a:solidFill>
                <a:latin typeface="Cambria Math" panose="02040503050406030204" pitchFamily="18" charset="0"/>
              </a:rPr>
              <a:t>J̇(r′,t_floor(</a:t>
            </a:r>
            <a:r>
              <a:rPr lang="el-GR" sz="1280">
                <a:solidFill>
                  <a:srgbClr val="001B3A"/>
                </a:solidFill>
                <a:latin typeface="Cambria Math" panose="02040503050406030204" pitchFamily="18" charset="0"/>
              </a:rPr>
              <a:t>τ)+1),    α = τ - </a:t>
            </a:r>
            <a:r>
              <a:rPr lang="en-GB" sz="1280">
                <a:solidFill>
                  <a:srgbClr val="001B3A"/>
                </a:solidFill>
                <a:latin typeface="Cambria Math" panose="02040503050406030204" pitchFamily="18" charset="0"/>
              </a:rPr>
              <a:t>floor(</a:t>
            </a:r>
            <a:r>
              <a:rPr lang="el-GR" sz="1280">
                <a:solidFill>
                  <a:srgbClr val="001B3A"/>
                </a:solidFill>
                <a:latin typeface="Cambria Math" panose="02040503050406030204" pitchFamily="18" charset="0"/>
              </a:rPr>
              <a:t>τ)</a:t>
            </a:r>
            <a:endParaRPr lang="en-GB" sz="1280">
              <a:solidFill>
                <a:srgbClr val="001B3A"/>
              </a:solidFill>
              <a:latin typeface="Cambria Math" panose="02040503050406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3FA17-E386-ACCC-FD81-445C2731A2F1}"/>
              </a:ext>
            </a:extLst>
          </p:cNvPr>
          <p:cNvSpPr txBox="1"/>
          <p:nvPr/>
        </p:nvSpPr>
        <p:spPr>
          <a:xfrm>
            <a:off x="4927600" y="2082800"/>
            <a:ext cx="33782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80">
                <a:solidFill>
                  <a:srgbClr val="5B6770"/>
                </a:solidFill>
                <a:latin typeface="Arial" panose="020B0604020202020204" pitchFamily="34" charset="0"/>
              </a:rPr>
              <a:t>linear interpolation at the retarded time for each source cell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77A9C-833C-B937-302D-D537BEC5376D}"/>
              </a:ext>
            </a:extLst>
          </p:cNvPr>
          <p:cNvSpPr txBox="1"/>
          <p:nvPr/>
        </p:nvSpPr>
        <p:spPr>
          <a:xfrm>
            <a:off x="4953000" y="2616200"/>
            <a:ext cx="3365500" cy="14711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GB" sz="1070">
                <a:solidFill>
                  <a:srgbClr val="1F2A35"/>
                </a:solidFill>
                <a:latin typeface="Arial" panose="020B0604020202020204" pitchFamily="34" charset="0"/>
              </a:rPr>
              <a:t>- The code builds linear indices with grid_y, grid_x and k1_safe.</a:t>
            </a:r>
          </a:p>
          <a:p>
            <a:pPr>
              <a:spcAft>
                <a:spcPts val="400"/>
              </a:spcAft>
            </a:pPr>
            <a:r>
              <a:rPr lang="en-GB" sz="1070">
                <a:solidFill>
                  <a:srgbClr val="1F2A35"/>
                </a:solidFill>
                <a:latin typeface="Arial" panose="020B0604020202020204" pitchFamily="34" charset="0"/>
              </a:rPr>
              <a:t>- Invalid retarded times are masked to zero after safe index clamping.</a:t>
            </a:r>
          </a:p>
          <a:p>
            <a:pPr>
              <a:spcAft>
                <a:spcPts val="400"/>
              </a:spcAft>
            </a:pPr>
            <a:r>
              <a:rPr lang="en-GB" sz="1070">
                <a:solidFill>
                  <a:srgbClr val="1F2A35"/>
                </a:solidFill>
                <a:latin typeface="Arial" panose="020B0604020202020204" pitchFamily="34" charset="0"/>
              </a:rPr>
              <a:t>- BAC-CAB identity evaluates Rhat x (Rhat x dJ) as (Rhat dot dJ)Rhat - dJ.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F8D598-3801-965E-77E5-D8E6862891EE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22E9843-081E-2916-9FA3-DE1E8100693E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7FA00C1-5408-3459-AF77-3C2B4E909D28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Code match: idx1/idx2 interpolation and validity mask in compute_THz_E_from_Jx.m.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1793CD-7335-B54D-DF83-A87EC69B3E7F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842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29CD02-1AE5-D09B-6C66-35E80C8A8746}"/>
              </a:ext>
            </a:extLst>
          </p:cNvPr>
          <p:cNvSpPr/>
          <p:nvPr/>
        </p:nvSpPr>
        <p:spPr>
          <a:xfrm>
            <a:off x="4826000" y="1422400"/>
            <a:ext cx="3530600" cy="2921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1A68C1-E265-A2FD-3D3A-B4DDA57146F3}"/>
              </a:ext>
            </a:extLst>
          </p:cNvPr>
          <p:cNvSpPr/>
          <p:nvPr/>
        </p:nvSpPr>
        <p:spPr>
          <a:xfrm>
            <a:off x="609600" y="2349500"/>
            <a:ext cx="3556000" cy="20066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794500" cy="584200"/>
          </a:xfrm>
        </p:spPr>
        <p:txBody>
          <a:bodyPr>
            <a:noAutofit/>
          </a:bodyPr>
          <a:lstStyle/>
          <a:p>
            <a:r>
              <a:rPr lang="en-GB" sz="1600">
                <a:solidFill>
                  <a:srgbClr val="001B3A"/>
                </a:solidFill>
                <a:latin typeface="Arial" panose="020B0604020202020204" pitchFamily="34" charset="0"/>
              </a:rPr>
              <a:t>Photo-Dember source currents create a ring-shaped dJ/dt distribution and an off-axis emission lobe</a:t>
            </a:r>
            <a:endParaRPr lang="en-GB" sz="160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885681-FAA3-15FE-BDC9-CE5D50850BE0}"/>
              </a:ext>
            </a:extLst>
          </p:cNvPr>
          <p:cNvCxnSpPr/>
          <p:nvPr/>
        </p:nvCxnSpPr>
        <p:spPr>
          <a:xfrm>
            <a:off x="635000" y="12954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7B170E-F95B-4234-CEC2-0AC6CDE5A499}"/>
              </a:ext>
            </a:extLst>
          </p:cNvPr>
          <p:cNvSpPr/>
          <p:nvPr/>
        </p:nvSpPr>
        <p:spPr>
          <a:xfrm>
            <a:off x="609600" y="1422400"/>
            <a:ext cx="3962400" cy="7112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E3D46-1E8D-F195-E07F-4608AF0A79D2}"/>
              </a:ext>
            </a:extLst>
          </p:cNvPr>
          <p:cNvSpPr txBox="1"/>
          <p:nvPr/>
        </p:nvSpPr>
        <p:spPr>
          <a:xfrm>
            <a:off x="736600" y="1549400"/>
            <a:ext cx="3708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>
                <a:solidFill>
                  <a:srgbClr val="001B3A"/>
                </a:solidFill>
                <a:latin typeface="Cambria Math" panose="02040503050406030204" pitchFamily="18" charset="0"/>
              </a:rPr>
              <a:t>J_x = qD_eff n_surf(t) ∂G/∂x,    J_y = qD_eff n_surf(t) ∂G/∂y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184CC8-22D8-E77F-70EE-629F4B3DAD0F}"/>
              </a:ext>
            </a:extLst>
          </p:cNvPr>
          <p:cNvSpPr txBox="1"/>
          <p:nvPr/>
        </p:nvSpPr>
        <p:spPr>
          <a:xfrm>
            <a:off x="711200" y="1905000"/>
            <a:ext cx="37592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80">
                <a:solidFill>
                  <a:srgbClr val="5B6770"/>
                </a:solidFill>
                <a:latin typeface="Arial" panose="020B0604020202020204" pitchFamily="34" charset="0"/>
              </a:rPr>
              <a:t>standard Photo-Dember current used in simulateTHzFromDiffusion.m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9B073B3-2FCE-2C15-1FB4-B1212834FF82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372997" y="2425700"/>
            <a:ext cx="2029206" cy="16891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8702D3-861C-1721-5A30-87EE6F1662D0}"/>
              </a:ext>
            </a:extLst>
          </p:cNvPr>
          <p:cNvSpPr txBox="1"/>
          <p:nvPr/>
        </p:nvSpPr>
        <p:spPr>
          <a:xfrm>
            <a:off x="685800" y="4140200"/>
            <a:ext cx="34036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|dJ/dt| snapshot near t = -0.03 ps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DAAEBA-2D36-EB5B-BAB1-9EB60E84018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994640" y="1498600"/>
            <a:ext cx="3193319" cy="2603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4AD2C8-E7AA-BFEB-69E5-FA30FC7ABF57}"/>
              </a:ext>
            </a:extLst>
          </p:cNvPr>
          <p:cNvSpPr txBox="1"/>
          <p:nvPr/>
        </p:nvSpPr>
        <p:spPr>
          <a:xfrm>
            <a:off x="4902200" y="4127500"/>
            <a:ext cx="33782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Angular validation: Epp(theta1)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D85A82-0D08-162A-B40B-7B3070EFC777}"/>
              </a:ext>
            </a:extLst>
          </p:cNvPr>
          <p:cNvSpPr txBox="1"/>
          <p:nvPr/>
        </p:nvSpPr>
        <p:spPr>
          <a:xfrm>
            <a:off x="4826000" y="4318000"/>
            <a:ext cx="3619500" cy="5088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GB" sz="880">
                <a:solidFill>
                  <a:srgbClr val="1F2A35"/>
                </a:solidFill>
                <a:latin typeface="Arial" panose="020B0604020202020204" pitchFamily="34" charset="0"/>
              </a:rPr>
              <a:t>- The peak Epp occurs at 25 degrees in result.m.</a:t>
            </a:r>
          </a:p>
          <a:p>
            <a:pPr>
              <a:spcAft>
                <a:spcPts val="400"/>
              </a:spcAft>
            </a:pPr>
            <a:r>
              <a:rPr lang="en-GB" sz="880">
                <a:solidFill>
                  <a:srgbClr val="1F2A35"/>
                </a:solidFill>
                <a:latin typeface="Arial" panose="020B0604020202020204" pitchFamily="34" charset="0"/>
              </a:rPr>
              <a:t>- The simulated lobe lies in the 20-30 degree experimental range.</a:t>
            </a:r>
          </a:p>
          <a:p>
            <a:pPr>
              <a:spcAft>
                <a:spcPts val="400"/>
              </a:spcAft>
            </a:pPr>
            <a:r>
              <a:rPr lang="en-GB" sz="880">
                <a:solidFill>
                  <a:srgbClr val="1F2A35"/>
                </a:solidFill>
                <a:latin typeface="Arial" panose="020B0604020202020204" pitchFamily="34" charset="0"/>
              </a:rPr>
              <a:t>- Epp falls to 0.0001 at 90 degrees after normalisation.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204816-1609-AFEC-AF32-90C575AAB025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39D7F3-F8C2-F341-01CA-6C804C7FB0B1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7752A5-6C32-8C98-540C-9BAC323E2EEC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Report sections: Far-field THz Angular Emission Validation; result.m data.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F78C06-C10D-1B06-C203-6C5502019195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278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E0B61F1-6A48-F88D-EC4D-FAB0BD4BF41A}"/>
              </a:ext>
            </a:extLst>
          </p:cNvPr>
          <p:cNvSpPr/>
          <p:nvPr/>
        </p:nvSpPr>
        <p:spPr>
          <a:xfrm>
            <a:off x="4254500" y="2413000"/>
            <a:ext cx="3175000" cy="1841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1A2D1E-D6AC-97EF-5D49-FC3C4E26E732}"/>
              </a:ext>
            </a:extLst>
          </p:cNvPr>
          <p:cNvSpPr/>
          <p:nvPr/>
        </p:nvSpPr>
        <p:spPr>
          <a:xfrm>
            <a:off x="736600" y="2413000"/>
            <a:ext cx="3175000" cy="1841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794500" cy="584200"/>
          </a:xfrm>
        </p:spPr>
        <p:txBody>
          <a:bodyPr>
            <a:normAutofit/>
          </a:bodyPr>
          <a:lstStyle/>
          <a:p>
            <a:r>
              <a:rPr lang="en-GB" sz="1600">
                <a:solidFill>
                  <a:srgbClr val="001B3A"/>
                </a:solidFill>
                <a:latin typeface="Arial" panose="020B0604020202020204" pitchFamily="34" charset="0"/>
              </a:rPr>
              <a:t>The built-in-field current gives the expected asymmetric bipolar THz pulse</a:t>
            </a:r>
            <a:endParaRPr lang="en-GB" sz="160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17B97-3EFC-086C-33FE-6CF849B7FD2F}"/>
              </a:ext>
            </a:extLst>
          </p:cNvPr>
          <p:cNvCxnSpPr/>
          <p:nvPr/>
        </p:nvCxnSpPr>
        <p:spPr>
          <a:xfrm>
            <a:off x="635000" y="12954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E5EB3D-EE3B-AA44-D938-5A00C1EF416C}"/>
              </a:ext>
            </a:extLst>
          </p:cNvPr>
          <p:cNvSpPr/>
          <p:nvPr/>
        </p:nvSpPr>
        <p:spPr>
          <a:xfrm>
            <a:off x="609600" y="1422400"/>
            <a:ext cx="3835400" cy="7366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D91DC-4FA3-8C92-23DE-B5280C9A2574}"/>
              </a:ext>
            </a:extLst>
          </p:cNvPr>
          <p:cNvSpPr txBox="1"/>
          <p:nvPr/>
        </p:nvSpPr>
        <p:spPr>
          <a:xfrm>
            <a:off x="736600" y="1549400"/>
            <a:ext cx="3581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001B3A"/>
                </a:solidFill>
                <a:latin typeface="Cambria Math" panose="02040503050406030204" pitchFamily="18" charset="0"/>
              </a:rPr>
              <a:t>J_z(x,y,t) = q μₑ E_z(z) n(x,y,t)</a:t>
            </a:r>
            <a:endParaRPr lang="en-GB" sz="1400">
              <a:solidFill>
                <a:srgbClr val="001B3A"/>
              </a:solidFill>
              <a:latin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9B1D70-302E-E8CB-B960-FF64E71640E0}"/>
              </a:ext>
            </a:extLst>
          </p:cNvPr>
          <p:cNvSpPr txBox="1"/>
          <p:nvPr/>
        </p:nvSpPr>
        <p:spPr>
          <a:xfrm>
            <a:off x="711200" y="1930400"/>
            <a:ext cx="36322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80">
                <a:solidFill>
                  <a:srgbClr val="5B6770"/>
                </a:solidFill>
                <a:latin typeface="Arial" panose="020B0604020202020204" pitchFamily="34" charset="0"/>
              </a:rPr>
              <a:t>vertical drift current in the depletion field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4943283-B12E-CAFF-3DC0-FEFBD2044AAA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519879" y="2489200"/>
            <a:ext cx="1608443" cy="15240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B82A42-E6BF-D428-A52F-D929E7CCA10D}"/>
              </a:ext>
            </a:extLst>
          </p:cNvPr>
          <p:cNvSpPr txBox="1"/>
          <p:nvPr/>
        </p:nvSpPr>
        <p:spPr>
          <a:xfrm>
            <a:off x="812800" y="4038600"/>
            <a:ext cx="30226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Built-in mode: Ex(t)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E74416-F6E0-BB61-2C37-10026B9A59A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033757" y="2489200"/>
            <a:ext cx="1616485" cy="1524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0B010A4-E6BF-D602-8908-2F7BC816DBD8}"/>
              </a:ext>
            </a:extLst>
          </p:cNvPr>
          <p:cNvSpPr txBox="1"/>
          <p:nvPr/>
        </p:nvSpPr>
        <p:spPr>
          <a:xfrm>
            <a:off x="4330700" y="4038600"/>
            <a:ext cx="30226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Built-in mode: Ey(t)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20AA94-A043-9784-B2C5-09E766C4A7C6}"/>
              </a:ext>
            </a:extLst>
          </p:cNvPr>
          <p:cNvSpPr txBox="1"/>
          <p:nvPr/>
        </p:nvSpPr>
        <p:spPr>
          <a:xfrm>
            <a:off x="4851400" y="1422400"/>
            <a:ext cx="3403600" cy="9797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GB" sz="950">
                <a:solidFill>
                  <a:srgbClr val="1F2A35"/>
                </a:solidFill>
                <a:latin typeface="Arial" panose="020B0604020202020204" pitchFamily="34" charset="0"/>
              </a:rPr>
              <a:t>- The rising current gives the leading lobe; recombination decay gives the opposite trailing lobe.</a:t>
            </a:r>
          </a:p>
          <a:p>
            <a:pPr>
              <a:spcAft>
                <a:spcPts val="400"/>
              </a:spcAft>
            </a:pPr>
            <a:r>
              <a:rPr lang="en-GB" sz="950">
                <a:solidFill>
                  <a:srgbClr val="1F2A35"/>
                </a:solidFill>
                <a:latin typeface="Arial" panose="020B0604020202020204" pitchFamily="34" charset="0"/>
              </a:rPr>
              <a:t>- Ex and Ey have opposite leading signs because the observer is off-axis in x and y.</a:t>
            </a:r>
          </a:p>
          <a:p>
            <a:pPr>
              <a:spcAft>
                <a:spcPts val="400"/>
              </a:spcAft>
            </a:pPr>
            <a:r>
              <a:rPr lang="en-GB" sz="950">
                <a:solidFill>
                  <a:srgbClr val="1F2A35"/>
                </a:solidFill>
                <a:latin typeface="Arial" panose="020B0604020202020204" pitchFamily="34" charset="0"/>
              </a:rPr>
              <a:t>- Both components return to zero within the 45 ps simulation window.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BDD2E4-9DF9-DCC7-661D-281D51D82EB3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3FEF0C4-40A1-115D-8E92-142FBB09EFA9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FCB6869-DF41-D99A-524B-3496436F4FCA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Report section: Bipolar Pulse Waveform; figures Ex.png and Ey.png.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AEF746-3EAF-7780-D6A7-A03560241FF0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3843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10647A-9A42-8221-A17E-AAB68F3DD52D}"/>
              </a:ext>
            </a:extLst>
          </p:cNvPr>
          <p:cNvSpPr/>
          <p:nvPr/>
        </p:nvSpPr>
        <p:spPr>
          <a:xfrm>
            <a:off x="4191000" y="2476500"/>
            <a:ext cx="3111500" cy="1714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2C7AB3-7B10-9D6E-F036-14DE45FA2264}"/>
              </a:ext>
            </a:extLst>
          </p:cNvPr>
          <p:cNvSpPr/>
          <p:nvPr/>
        </p:nvSpPr>
        <p:spPr>
          <a:xfrm>
            <a:off x="736600" y="2476500"/>
            <a:ext cx="3111500" cy="1714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794500" cy="584200"/>
          </a:xfrm>
        </p:spPr>
        <p:txBody>
          <a:bodyPr>
            <a:normAutofit/>
          </a:bodyPr>
          <a:lstStyle/>
          <a:p>
            <a:r>
              <a:rPr lang="en-GB" sz="1600">
                <a:solidFill>
                  <a:srgbClr val="001B3A"/>
                </a:solidFill>
                <a:latin typeface="Arial" panose="020B0604020202020204" pitchFamily="34" charset="0"/>
              </a:rPr>
              <a:t>Custom built-in-field mode validates the parser and far-field integration path</a:t>
            </a:r>
            <a:endParaRPr lang="en-GB" sz="160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E41CA2-F164-0D46-4EF3-3DAB21182F21}"/>
              </a:ext>
            </a:extLst>
          </p:cNvPr>
          <p:cNvCxnSpPr/>
          <p:nvPr/>
        </p:nvCxnSpPr>
        <p:spPr>
          <a:xfrm>
            <a:off x="635000" y="12954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9F9451-2B80-C716-4A12-8118CF8C9197}"/>
              </a:ext>
            </a:extLst>
          </p:cNvPr>
          <p:cNvSpPr/>
          <p:nvPr/>
        </p:nvSpPr>
        <p:spPr>
          <a:xfrm>
            <a:off x="609600" y="1422400"/>
            <a:ext cx="4191000" cy="7366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25FA4-2F12-5B41-00ED-CE28211B0DBF}"/>
              </a:ext>
            </a:extLst>
          </p:cNvPr>
          <p:cNvSpPr txBox="1"/>
          <p:nvPr/>
        </p:nvSpPr>
        <p:spPr>
          <a:xfrm>
            <a:off x="736600" y="15494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>
                <a:solidFill>
                  <a:srgbClr val="001B3A"/>
                </a:solidFill>
                <a:latin typeface="Cambria Math" panose="02040503050406030204" pitchFamily="18" charset="0"/>
              </a:rPr>
              <a:t>Custom validation:    J_x = 0,    J_y = 0,    J_z = -n</a:t>
            </a:r>
            <a:endParaRPr lang="en-GB" sz="1400">
              <a:solidFill>
                <a:srgbClr val="001B3A"/>
              </a:solidFill>
              <a:latin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4EB2B6-9D8A-26EF-A0C6-5EB9AFB0862F}"/>
              </a:ext>
            </a:extLst>
          </p:cNvPr>
          <p:cNvSpPr txBox="1"/>
          <p:nvPr/>
        </p:nvSpPr>
        <p:spPr>
          <a:xfrm>
            <a:off x="711200" y="1930400"/>
            <a:ext cx="39878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80">
                <a:solidFill>
                  <a:srgbClr val="5B6770"/>
                </a:solidFill>
                <a:latin typeface="Arial" panose="020B0604020202020204" pitchFamily="34" charset="0"/>
              </a:rPr>
              <a:t>custom expression entered through the GUI parser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BBE9D84-8C77-D6B7-1C6A-D56B80833F84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555147" y="2552700"/>
            <a:ext cx="1474406" cy="13970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30BCABA-20CD-A054-4523-EEB9C0F09304}"/>
              </a:ext>
            </a:extLst>
          </p:cNvPr>
          <p:cNvSpPr txBox="1"/>
          <p:nvPr/>
        </p:nvSpPr>
        <p:spPr>
          <a:xfrm>
            <a:off x="812800" y="3975100"/>
            <a:ext cx="29591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Custom mode: Jz = -n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54B054-D37B-2B7C-0AC7-D01FEEB2645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009547" y="2552700"/>
            <a:ext cx="1474406" cy="1397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55E230-B715-7880-22A2-F7F7056905A5}"/>
              </a:ext>
            </a:extLst>
          </p:cNvPr>
          <p:cNvSpPr txBox="1"/>
          <p:nvPr/>
        </p:nvSpPr>
        <p:spPr>
          <a:xfrm>
            <a:off x="4267200" y="3975100"/>
            <a:ext cx="29591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Standard built-in mode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045AC5-7AB5-8CB5-A9DE-BF1543BAA594}"/>
              </a:ext>
            </a:extLst>
          </p:cNvPr>
          <p:cNvSpPr/>
          <p:nvPr/>
        </p:nvSpPr>
        <p:spPr>
          <a:xfrm>
            <a:off x="7620000" y="1422400"/>
            <a:ext cx="1498600" cy="279400"/>
          </a:xfrm>
          <a:prstGeom prst="round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GB" sz="880" b="1">
                <a:solidFill>
                  <a:srgbClr val="FFFFFF"/>
                </a:solidFill>
                <a:latin typeface="Arial" panose="020B0604020202020204" pitchFamily="34" charset="0"/>
              </a:rPr>
              <a:t>Readout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256DC0-D891-B2F2-EEC7-641F1977DDA9}"/>
              </a:ext>
            </a:extLst>
          </p:cNvPr>
          <p:cNvSpPr txBox="1"/>
          <p:nvPr/>
        </p:nvSpPr>
        <p:spPr>
          <a:xfrm>
            <a:off x="7620000" y="1879600"/>
            <a:ext cx="1092200" cy="13490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GB" sz="810">
                <a:solidFill>
                  <a:srgbClr val="1F2A35"/>
                </a:solidFill>
                <a:latin typeface="Arial" panose="020B0604020202020204" pitchFamily="34" charset="0"/>
              </a:rPr>
              <a:t>- The bipolar shape and zero crossing match.</a:t>
            </a:r>
          </a:p>
          <a:p>
            <a:pPr>
              <a:spcAft>
                <a:spcPts val="400"/>
              </a:spcAft>
            </a:pPr>
            <a:r>
              <a:rPr lang="en-GB" sz="810">
                <a:solidFill>
                  <a:srgbClr val="1F2A35"/>
                </a:solidFill>
                <a:latin typeface="Arial" panose="020B0604020202020204" pitchFamily="34" charset="0"/>
              </a:rPr>
              <a:t>- Amplitude differs because q, mobility and field prefactors are omitted.</a:t>
            </a:r>
          </a:p>
          <a:p>
            <a:pPr>
              <a:spcAft>
                <a:spcPts val="400"/>
              </a:spcAft>
            </a:pPr>
            <a:r>
              <a:rPr lang="en-GB" sz="810">
                <a:solidFill>
                  <a:srgbClr val="1F2A35"/>
                </a:solidFill>
                <a:latin typeface="Arial" panose="020B0604020202020204" pitchFamily="34" charset="0"/>
              </a:rPr>
              <a:t>- This confirms CustomJxHandle feeds the same far-field solver correctly.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C1C7FE-A568-E29D-9C9F-9B23F804B5FA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8C282DB-B3AD-8D1D-BFF0-880F00B6283A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AE9C25C-1449-233C-ADA5-5946D84ADB6D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Report section: Custom Model Results; built-in validation case.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739541-54F8-890A-AD0C-B38E6BE3D825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397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229E85D-D204-079B-516E-627B801A6605}"/>
              </a:ext>
            </a:extLst>
          </p:cNvPr>
          <p:cNvSpPr/>
          <p:nvPr/>
        </p:nvSpPr>
        <p:spPr>
          <a:xfrm>
            <a:off x="3873500" y="2603500"/>
            <a:ext cx="2857500" cy="1587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9E62B7-544D-974C-A748-D54D4D41D0A6}"/>
              </a:ext>
            </a:extLst>
          </p:cNvPr>
          <p:cNvSpPr/>
          <p:nvPr/>
        </p:nvSpPr>
        <p:spPr>
          <a:xfrm>
            <a:off x="635000" y="2603500"/>
            <a:ext cx="2857500" cy="1587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794500" cy="584200"/>
          </a:xfrm>
        </p:spPr>
        <p:txBody>
          <a:bodyPr>
            <a:noAutofit/>
          </a:bodyPr>
          <a:lstStyle/>
          <a:p>
            <a:r>
              <a:rPr lang="en-GB" sz="1600">
                <a:solidFill>
                  <a:srgbClr val="001B3A"/>
                </a:solidFill>
                <a:latin typeface="Arial" panose="020B0604020202020204" pitchFamily="34" charset="0"/>
              </a:rPr>
              <a:t>Custom Photo-Dember mode reproduces waveform shape and reveals a modelling approximation</a:t>
            </a:r>
            <a:endParaRPr lang="en-GB" sz="160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A94C58-AEE5-F02C-1A10-5EFD9A70EC00}"/>
              </a:ext>
            </a:extLst>
          </p:cNvPr>
          <p:cNvCxnSpPr/>
          <p:nvPr/>
        </p:nvCxnSpPr>
        <p:spPr>
          <a:xfrm>
            <a:off x="635000" y="12954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850AB5-796E-9777-049E-881868D06E26}"/>
              </a:ext>
            </a:extLst>
          </p:cNvPr>
          <p:cNvSpPr/>
          <p:nvPr/>
        </p:nvSpPr>
        <p:spPr>
          <a:xfrm>
            <a:off x="609600" y="1422400"/>
            <a:ext cx="3810000" cy="914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238236-DB45-15CE-775F-37B235640EAA}"/>
              </a:ext>
            </a:extLst>
          </p:cNvPr>
          <p:cNvSpPr txBox="1"/>
          <p:nvPr/>
        </p:nvSpPr>
        <p:spPr>
          <a:xfrm>
            <a:off x="736600" y="1549400"/>
            <a:ext cx="3556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250">
                <a:solidFill>
                  <a:srgbClr val="001B3A"/>
                </a:solidFill>
                <a:latin typeface="Cambria Math" panose="02040503050406030204" pitchFamily="18" charset="0"/>
              </a:rPr>
              <a:t>J_PD = q(D_e - D_h) ∇ n</a:t>
            </a:r>
          </a:p>
          <a:p>
            <a:pPr algn="ctr"/>
            <a:r>
              <a:rPr lang="pt-BR" sz="1250">
                <a:solidFill>
                  <a:srgbClr val="001B3A"/>
                </a:solidFill>
                <a:latin typeface="Cambria Math" panose="02040503050406030204" pitchFamily="18" charset="0"/>
              </a:rPr>
              <a:t>J_x = q(D_e - D_h) ∂ₓ n,    J_y = q(D_e - D_h) ∂ᵧ n</a:t>
            </a:r>
            <a:endParaRPr lang="en-GB" sz="1250">
              <a:solidFill>
                <a:srgbClr val="001B3A"/>
              </a:solidFill>
              <a:latin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8C75D-F3A0-41BD-C34D-B83CE516D6A2}"/>
              </a:ext>
            </a:extLst>
          </p:cNvPr>
          <p:cNvSpPr txBox="1"/>
          <p:nvPr/>
        </p:nvSpPr>
        <p:spPr>
          <a:xfrm>
            <a:off x="711200" y="2108200"/>
            <a:ext cx="36068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80">
                <a:solidFill>
                  <a:srgbClr val="5B6770"/>
                </a:solidFill>
                <a:latin typeface="Arial" panose="020B0604020202020204" pitchFamily="34" charset="0"/>
              </a:rPr>
              <a:t>physical Photo-Dember current proportional to carrier-density gradient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CB8D36-91F1-5FB9-2CEA-B4DDC888937A}"/>
              </a:ext>
            </a:extLst>
          </p:cNvPr>
          <p:cNvSpPr/>
          <p:nvPr/>
        </p:nvSpPr>
        <p:spPr>
          <a:xfrm>
            <a:off x="4826000" y="1422400"/>
            <a:ext cx="3556000" cy="7112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5C99B8-2841-B9FA-99CF-6D7FCC9B0936}"/>
              </a:ext>
            </a:extLst>
          </p:cNvPr>
          <p:cNvSpPr txBox="1"/>
          <p:nvPr/>
        </p:nvSpPr>
        <p:spPr>
          <a:xfrm>
            <a:off x="4953000" y="15494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50">
                <a:solidFill>
                  <a:srgbClr val="001B3A"/>
                </a:solidFill>
                <a:latin typeface="Cambria Math" panose="02040503050406030204" pitchFamily="18" charset="0"/>
              </a:rPr>
              <a:t>Custom validation:    J_x = dnx,    J_y = dny,    J_z =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F5449-0DB2-81EC-52DF-D53BDA180A5D}"/>
              </a:ext>
            </a:extLst>
          </p:cNvPr>
          <p:cNvSpPr txBox="1"/>
          <p:nvPr/>
        </p:nvSpPr>
        <p:spPr>
          <a:xfrm>
            <a:off x="4927600" y="1905000"/>
            <a:ext cx="33528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80">
                <a:solidFill>
                  <a:srgbClr val="5B6770"/>
                </a:solidFill>
                <a:latin typeface="Arial" panose="020B0604020202020204" pitchFamily="34" charset="0"/>
              </a:rPr>
              <a:t>custom mode omits the prefactor but preserves the gradient dependence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DB5A8772-BF83-A716-6917-6C27CF415B63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393566" y="2679700"/>
            <a:ext cx="1340369" cy="1270000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3CA1189-DC0C-006E-B8B2-07CF4BCE166A}"/>
              </a:ext>
            </a:extLst>
          </p:cNvPr>
          <p:cNvSpPr txBox="1"/>
          <p:nvPr/>
        </p:nvSpPr>
        <p:spPr>
          <a:xfrm>
            <a:off x="711200" y="3975100"/>
            <a:ext cx="27051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Standard Photo-Dember mode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B652649-D8A3-D713-A52E-985CD956676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632066" y="2679700"/>
            <a:ext cx="1340369" cy="127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FB7B20C-217D-303A-8E93-D1488BD5510B}"/>
              </a:ext>
            </a:extLst>
          </p:cNvPr>
          <p:cNvSpPr txBox="1"/>
          <p:nvPr/>
        </p:nvSpPr>
        <p:spPr>
          <a:xfrm>
            <a:off x="3949700" y="3975100"/>
            <a:ext cx="27051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Custom: Jx = dnx, Jy = dny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3E885A-0E94-B98B-A05B-1D2A59751C61}"/>
              </a:ext>
            </a:extLst>
          </p:cNvPr>
          <p:cNvSpPr txBox="1"/>
          <p:nvPr/>
        </p:nvSpPr>
        <p:spPr>
          <a:xfrm>
            <a:off x="7010400" y="2540000"/>
            <a:ext cx="1676400" cy="14737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GB" sz="810">
                <a:solidFill>
                  <a:srgbClr val="1F2A35"/>
                </a:solidFill>
                <a:latin typeface="Arial" panose="020B0604020202020204" pitchFamily="34" charset="0"/>
              </a:rPr>
              <a:t>- Shape agreement validates the custom parser and far-field integrator.</a:t>
            </a:r>
          </a:p>
          <a:p>
            <a:pPr>
              <a:spcAft>
                <a:spcPts val="400"/>
              </a:spcAft>
            </a:pPr>
            <a:r>
              <a:rPr lang="en-GB" sz="810">
                <a:solidFill>
                  <a:srgbClr val="1F2A35"/>
                </a:solidFill>
                <a:latin typeface="Arial" panose="020B0604020202020204" pitchFamily="34" charset="0"/>
              </a:rPr>
              <a:t>- Amplitude scaling is expected because custom formulas omit q(D_e - D_h).</a:t>
            </a:r>
          </a:p>
          <a:p>
            <a:pPr>
              <a:spcAft>
                <a:spcPts val="400"/>
              </a:spcAft>
            </a:pPr>
            <a:r>
              <a:rPr lang="en-GB" sz="810">
                <a:solidFill>
                  <a:srgbClr val="1F2A35"/>
                </a:solidFill>
                <a:latin typeface="Arial" panose="020B0604020202020204" pitchFamily="34" charset="0"/>
              </a:rPr>
              <a:t>- The stronger trailing feature appears because custom mode uses evolving n(x,y,t), while standard mode uses n_surf(t) times a fixed Gaussian gradient.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C6A37-D046-4243-0F0C-AC6561A256B7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6B4534-E838-5A5C-A63B-2FA40FA57B8A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025112E-7D3F-641E-4AD9-AF19FEA9BDC1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Report section: Custom Model Results; code path uses CustomJxHandle in simulateTHzFromDiffusion.m.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0D60B3-636F-05F3-0DB4-C1EC31273946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82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794500" cy="584200"/>
          </a:xfrm>
        </p:spPr>
        <p:txBody>
          <a:bodyPr>
            <a:noAutofit/>
          </a:bodyPr>
          <a:lstStyle/>
          <a:p>
            <a:r>
              <a:rPr lang="en-GB" sz="1600">
                <a:solidFill>
                  <a:srgbClr val="001B3A"/>
                </a:solidFill>
                <a:latin typeface="Arial" panose="020B0604020202020204" pitchFamily="34" charset="0"/>
              </a:rPr>
              <a:t>The model is validated for angular shape rather than absolute THz power</a:t>
            </a:r>
          </a:p>
        </p:txBody>
      </p:sp>
      <p:cxnSp>
        <p:nvCxnSpPr>
          <p:cNvPr id="3" name="Accent Line"/>
          <p:cNvCxnSpPr/>
          <p:nvPr/>
        </p:nvCxnSpPr>
        <p:spPr>
          <a:xfrm>
            <a:off x="635000" y="12954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</p:cxnSp>
      <p:sp>
        <p:nvSpPr>
          <p:cNvPr id="4" name="Strengths Card"/>
          <p:cNvSpPr/>
          <p:nvPr/>
        </p:nvSpPr>
        <p:spPr>
          <a:xfrm>
            <a:off x="635000" y="1574800"/>
            <a:ext cx="3886200" cy="2057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</p:spPr>
        <p:txBody>
          <a:bodyPr lIns="137160" tIns="100584" rIns="137160" bIns="91440" rtlCol="0" anchor="t"/>
          <a:lstStyle/>
          <a:p>
            <a:pPr>
              <a:spcAft>
                <a:spcPts val="600"/>
              </a:spcAft>
            </a:pPr>
            <a:r>
              <a:rPr lang="en-GB" sz="1100" b="1">
                <a:solidFill>
                  <a:srgbClr val="005EB8"/>
                </a:solidFill>
                <a:latin typeface="Arial" panose="020B0604020202020204" pitchFamily="34" charset="0"/>
              </a:rPr>
              <a:t>Strengths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Causal propagation is preserved through retarded-time interpolation.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Vector field output makes polarisation and viewing angle part of the result.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Physical mechanisms are separated for controlled comparison of source currents.</a:t>
            </a:r>
          </a:p>
        </p:txBody>
      </p:sp>
      <p:sp>
        <p:nvSpPr>
          <p:cNvPr id="5" name="Limitations Card"/>
          <p:cNvSpPr/>
          <p:nvPr/>
        </p:nvSpPr>
        <p:spPr>
          <a:xfrm>
            <a:off x="4622800" y="1574800"/>
            <a:ext cx="3886200" cy="2057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</p:spPr>
        <p:txBody>
          <a:bodyPr lIns="137160" tIns="100584" rIns="137160" bIns="91440" rtlCol="0" anchor="t"/>
          <a:lstStyle/>
          <a:p>
            <a:pPr>
              <a:spcAft>
                <a:spcPts val="600"/>
              </a:spcAft>
            </a:pPr>
            <a:r>
              <a:rPr lang="en-GB" sz="1100" b="1">
                <a:solidFill>
                  <a:srgbClr val="B23A48"/>
                </a:solidFill>
                <a:latin typeface="Arial" panose="020B0604020202020204" pitchFamily="34" charset="0"/>
              </a:rPr>
              <a:t>Limitations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Carrier transport is simplified versus full Monte Carlo modelling.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The far-field approximation drops near-field and detector-response effects.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Validation uses normalised angular amplitude, not calibrated absolute power.</a:t>
            </a:r>
          </a:p>
        </p:txBody>
      </p:sp>
      <p:sp>
        <p:nvSpPr>
          <p:cNvPr id="6" name="What This Means"/>
          <p:cNvSpPr/>
          <p:nvPr/>
        </p:nvSpPr>
        <p:spPr>
          <a:xfrm>
            <a:off x="635000" y="3784600"/>
            <a:ext cx="7874000" cy="762000"/>
          </a:xfrm>
          <a:prstGeom prst="roundRect">
            <a:avLst/>
          </a:prstGeom>
          <a:solidFill>
            <a:srgbClr val="EEF3F8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</p:spPr>
        <p:txBody>
          <a:bodyPr lIns="137160" tIns="45720" rIns="137160" bIns="45720" rtlCol="0" anchor="ctr"/>
          <a:lstStyle/>
          <a:p>
            <a:r>
              <a:rPr lang="en-GB" sz="950" b="1">
                <a:solidFill>
                  <a:srgbClr val="001B3A"/>
                </a:solidFill>
                <a:latin typeface="Arial" panose="020B0604020202020204" pitchFamily="34" charset="0"/>
              </a:rPr>
              <a:t>What this means:  </a:t>
            </a:r>
            <a:r>
              <a:rPr lang="en-GB" sz="950">
                <a:solidFill>
                  <a:srgbClr val="1F2A35"/>
                </a:solidFill>
                <a:latin typeface="Arial" panose="020B0604020202020204" pitchFamily="34" charset="0"/>
              </a:rPr>
              <a:t>the pipeline is a credible computational framework; the next step is quantitative calibration against measured waveforms and a systematic sensitivity analysis.</a:t>
            </a:r>
          </a:p>
        </p:txBody>
      </p:sp>
      <p:sp>
        <p:nvSpPr>
          <p:cNvPr id="19" name="Footer Cover"/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Footer Divider"/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</p:cxnSp>
      <p:sp>
        <p:nvSpPr>
          <p:cNvPr id="8" name="Footer Text"/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Mark-scheme alignment: critical analysis of results, not only description of generated plots.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09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7686675" y="4774168"/>
            <a:ext cx="1143000" cy="23495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794500" cy="584200"/>
          </a:xfrm>
        </p:spPr>
        <p:txBody>
          <a:bodyPr>
            <a:noAutofit/>
          </a:bodyPr>
          <a:lstStyle/>
          <a:p>
            <a:r>
              <a:rPr lang="en-GB" sz="1600">
                <a:solidFill>
                  <a:srgbClr val="001B3A"/>
                </a:solidFill>
                <a:latin typeface="Arial" panose="020B0604020202020204" pitchFamily="34" charset="0"/>
              </a:rPr>
              <a:t>Contribution: an end-to-end pipeline from carrier dynamics to validated THz field patterns</a:t>
            </a:r>
          </a:p>
        </p:txBody>
      </p:sp>
      <p:cxnSp>
        <p:nvCxnSpPr>
          <p:cNvPr id="3" name="Accent Line"/>
          <p:cNvCxnSpPr/>
          <p:nvPr/>
        </p:nvCxnSpPr>
        <p:spPr>
          <a:xfrm>
            <a:off x="635000" y="12954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</p:cxnSp>
      <p:sp>
        <p:nvSpPr>
          <p:cNvPr id="4" name="Conclusions Card"/>
          <p:cNvSpPr/>
          <p:nvPr/>
        </p:nvSpPr>
        <p:spPr>
          <a:xfrm>
            <a:off x="635000" y="1574800"/>
            <a:ext cx="3886200" cy="2057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</p:spPr>
        <p:txBody>
          <a:bodyPr lIns="137160" tIns="100584" rIns="137160" bIns="91440" rtlCol="0" anchor="t"/>
          <a:lstStyle/>
          <a:p>
            <a:pPr>
              <a:spcAft>
                <a:spcPts val="600"/>
              </a:spcAft>
            </a:pPr>
            <a:r>
              <a:rPr lang="en-GB" sz="1100" b="1">
                <a:solidFill>
                  <a:srgbClr val="005EB8"/>
                </a:solidFill>
                <a:latin typeface="Arial" panose="020B0604020202020204" pitchFamily="34" charset="0"/>
              </a:rPr>
              <a:t>Conclusions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Implemented a retarded-potential far-field calculation for full Jx, Jy, Jz histories.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Coupled carrier diffusion and built-in-field dynamics to time-domain THz waveforms.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Reproduced the angular emission lobe (peak near 25 degrees) reported in the literature.</a:t>
            </a:r>
          </a:p>
        </p:txBody>
      </p:sp>
      <p:sp>
        <p:nvSpPr>
          <p:cNvPr id="5" name="Future Work Card"/>
          <p:cNvSpPr/>
          <p:nvPr/>
        </p:nvSpPr>
        <p:spPr>
          <a:xfrm>
            <a:off x="4622800" y="1574800"/>
            <a:ext cx="3886200" cy="2057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</p:spPr>
        <p:txBody>
          <a:bodyPr lIns="137160" tIns="100584" rIns="137160" bIns="91440" rtlCol="0" anchor="t"/>
          <a:lstStyle/>
          <a:p>
            <a:pPr>
              <a:spcAft>
                <a:spcPts val="600"/>
              </a:spcAft>
            </a:pPr>
            <a:r>
              <a:rPr lang="en-GB" sz="1100" b="1">
                <a:solidFill>
                  <a:srgbClr val="F6A800"/>
                </a:solidFill>
                <a:latin typeface="Arial" panose="020B0604020202020204" pitchFamily="34" charset="0"/>
              </a:rPr>
              <a:t>Future work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Calibrate waveform amplitudes using detector response and collection geometry.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Run sensitivity studies for beam waist, carrier lifetime, mobility and depletion field.</a:t>
            </a:r>
          </a:p>
          <a:p>
            <a:pPr>
              <a:spcAft>
                <a:spcPts val="500"/>
              </a:spcAft>
            </a:pPr>
            <a:r>
              <a:rPr lang="en-GB" sz="900">
                <a:solidFill>
                  <a:srgbClr val="1F2A35"/>
                </a:solidFill>
                <a:latin typeface="Arial" panose="020B0604020202020204" pitchFamily="34" charset="0"/>
              </a:rPr>
              <a:t>- Extend to structured metasurfaces and spatially resolved THz field maps.</a:t>
            </a:r>
          </a:p>
        </p:txBody>
      </p:sp>
      <p:sp>
        <p:nvSpPr>
          <p:cNvPr id="6" name="QA Takeaway"/>
          <p:cNvSpPr/>
          <p:nvPr/>
        </p:nvSpPr>
        <p:spPr>
          <a:xfrm>
            <a:off x="635000" y="3784600"/>
            <a:ext cx="7874000" cy="762000"/>
          </a:xfrm>
          <a:prstGeom prst="roundRect">
            <a:avLst/>
          </a:prstGeom>
          <a:solidFill>
            <a:srgbClr val="EEF3F8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</p:spPr>
        <p:txBody>
          <a:bodyPr lIns="137160" tIns="45720" rIns="137160" bIns="45720" rtlCol="0" anchor="ctr"/>
          <a:lstStyle/>
          <a:p>
            <a:r>
              <a:rPr lang="en-GB" sz="950" b="1">
                <a:solidFill>
                  <a:srgbClr val="001B3A"/>
                </a:solidFill>
                <a:latin typeface="Arial" panose="020B0604020202020204" pitchFamily="34" charset="0"/>
              </a:rPr>
              <a:t>Takeaway for Q&amp;A:  </a:t>
            </a:r>
            <a:r>
              <a:rPr lang="en-GB" sz="950">
                <a:solidFill>
                  <a:srgbClr val="1F2A35"/>
                </a:solidFill>
                <a:latin typeface="Arial" panose="020B0604020202020204" pitchFamily="34" charset="0"/>
              </a:rPr>
              <a:t>the key assumption is that normalised angular shape is a valid first validation target for the far-field model.</a:t>
            </a:r>
          </a:p>
        </p:txBody>
      </p:sp>
      <p:sp>
        <p:nvSpPr>
          <p:cNvPr id="19" name="Footer Cover"/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Footer Divider"/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</p:cxnSp>
      <p:sp>
        <p:nvSpPr>
          <p:cNvPr id="8" name="Footer Text"/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Summary of contributions prepared against the ELEC0118 final project presentation rubric.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7686675" y="4774168"/>
            <a:ext cx="1143000" cy="23495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rd_year_project_e-post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3799</TotalTime>
  <Words>1564</Words>
  <Application>Microsoft Macintosh PowerPoint</Application>
  <PresentationFormat>On-screen Show (16:9)</PresentationFormat>
  <Paragraphs>125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Helvetica</vt:lpstr>
      <vt:lpstr>3rd_year_project_e-poster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UCL 16:9 PP Plain - DARK BLUE</dc:title>
  <dc:subject/>
  <dc:creator>Clayton, Janine</dc:creator>
  <cp:keywords/>
  <dc:description/>
  <cp:lastModifiedBy>Yaoqi Dong</cp:lastModifiedBy>
  <cp:revision>138</cp:revision>
  <dcterms:created xsi:type="dcterms:W3CDTF">2016-12-07T10:36:45Z</dcterms:created>
  <dcterms:modified xsi:type="dcterms:W3CDTF">2026-05-31T11:48:03Z</dcterms:modified>
  <cp:category/>
</cp:coreProperties>
</file>